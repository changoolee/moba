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68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6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e513f968ceee9e951bf856e9a33bc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a3ac18da7e454560b67e6e196c2b0b2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2" descr="gen-dedup-ad2ecec5f6f5de8b58a1e6916adb374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Image 3" descr="gen-dedup-0eac7052652dee2652c5d8a9a662669b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952805" y="9001354"/>
            <a:ext cx="1143000" cy="28346"/>
          </a:xfrm>
          <a:prstGeom prst="rect">
            <a:avLst/>
          </a:prstGeom>
        </p:spPr>
      </p:pic>
      <p:pic>
        <p:nvPicPr>
          <p:cNvPr id="7" name="Image 4" descr="gen-dedup-9dc12ca349f9c0c80ce6fd6d7fa8612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666598"/>
            <a:ext cx="761695" cy="76169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4287500" y="972007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4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ESG PROPOSAL</a:t>
            </a:r>
            <a:endParaRPr lang="en-US" sz="900" dirty="0"/>
          </a:p>
        </p:txBody>
      </p:sp>
      <p:pic>
        <p:nvPicPr>
          <p:cNvPr id="9" name="Image 5" descr="gen-dedup-9dc12ca349f9c0c80ce6fd6d7fa8612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2930596"/>
            <a:ext cx="4957200" cy="495720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6476695" y="4476902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0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MEMBERSHIP · ESG IMPACT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6476695" y="4953305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9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바다를 다시 푸르게.</a:t>
            </a:r>
            <a:endParaRPr lang="en-US" sz="4600" dirty="0"/>
          </a:p>
        </p:txBody>
      </p:sp>
      <p:sp>
        <p:nvSpPr>
          <p:cNvPr id="12" name="Text 4"/>
          <p:cNvSpPr txBox="1"/>
          <p:nvPr/>
        </p:nvSpPr>
        <p:spPr>
          <a:xfrm>
            <a:off x="6476695" y="5803697"/>
            <a:ext cx="1095451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-29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ESG 성과와 임직원 복지를</a:t>
            </a:r>
            <a:endParaRPr lang="en-US" sz="2800" dirty="0"/>
          </a:p>
          <a:p>
            <a:pPr marL="0" indent="0" algn="l">
              <a:buNone/>
            </a:pPr>
            <a:r>
              <a:rPr lang="en-US" sz="2800" kern="0" spc="-29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실현하는 멤버십. </a:t>
            </a:r>
            <a:endParaRPr lang="en-US" sz="2800" dirty="0"/>
          </a:p>
        </p:txBody>
      </p:sp>
      <p:sp>
        <p:nvSpPr>
          <p:cNvPr id="13" name="Text 5"/>
          <p:cNvSpPr txBox="1"/>
          <p:nvPr/>
        </p:nvSpPr>
        <p:spPr>
          <a:xfrm>
            <a:off x="952805" y="9239098"/>
            <a:ext cx="123828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가능한 정량 해양보전 성과 · PADI AWARE Foundation 국제 검증 · 연 4회 정례 사이클</a:t>
            </a:r>
            <a:endParaRPr lang="en-US" sz="1300" dirty="0"/>
          </a:p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ESG 담당자 및 의사결정자용 멤버십 제안서</a:t>
            </a:r>
            <a:endParaRPr lang="en-US" sz="1300" dirty="0"/>
          </a:p>
        </p:txBody>
      </p:sp>
      <p:sp>
        <p:nvSpPr>
          <p:cNvPr id="14" name="Text 6"/>
          <p:cNvSpPr txBox="1"/>
          <p:nvPr/>
        </p:nvSpPr>
        <p:spPr>
          <a:xfrm>
            <a:off x="15620695" y="9430207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95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·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190902"/>
            <a:ext cx="16383305" cy="1047902"/>
          </a:xfrm>
          <a:prstGeom prst="roundRect">
            <a:avLst>
              <a:gd name="adj" fmla="val 6346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805" y="6476695"/>
            <a:ext cx="16383305" cy="1762049"/>
          </a:xfrm>
          <a:prstGeom prst="roundRect">
            <a:avLst>
              <a:gd name="adj" fmla="val 2244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805" y="8810244"/>
            <a:ext cx="3161995" cy="905256"/>
          </a:xfrm>
          <a:prstGeom prst="roundRect">
            <a:avLst>
              <a:gd name="adj" fmla="val 12759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57446" y="8810244"/>
            <a:ext cx="3161995" cy="905256"/>
          </a:xfrm>
          <a:prstGeom prst="roundRect">
            <a:avLst>
              <a:gd name="adj" fmla="val 12759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63002" y="8810244"/>
            <a:ext cx="3161995" cy="905256"/>
          </a:xfrm>
          <a:prstGeom prst="roundRect">
            <a:avLst>
              <a:gd name="adj" fmla="val 12759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67644" y="8810244"/>
            <a:ext cx="3161995" cy="905256"/>
          </a:xfrm>
          <a:prstGeom prst="roundRect">
            <a:avLst>
              <a:gd name="adj" fmla="val 12759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173200" y="8810244"/>
            <a:ext cx="3161995" cy="905256"/>
          </a:xfrm>
          <a:prstGeom prst="roundRect">
            <a:avLst>
              <a:gd name="adj" fmla="val 12759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2805" y="666598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한눈에 보는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MOBA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1238098" y="2361895"/>
            <a:ext cx="1581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ONE-LINE DEFINITION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38098" y="2648102"/>
            <a:ext cx="158118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교육(자격)</a:t>
            </a:r>
            <a:r>
              <a:rPr lang="en-US" sz="22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22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 정화</a:t>
            </a:r>
            <a:r>
              <a:rPr lang="en-US" sz="22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22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업로드</a:t>
            </a:r>
            <a:r>
              <a:rPr lang="en-US" sz="22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22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</a:t>
            </a:r>
            <a:r>
              <a:rPr lang="en-US" sz="1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 4단계 사이클을 연 4회 반복합니다.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52805" y="3619195"/>
            <a:ext cx="3810305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2805" y="3819449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PROGRAM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4105656"/>
            <a:ext cx="381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4회 정례 사이클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4516222"/>
            <a:ext cx="3810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1회 정기 수중 정화 활동, 안전·보험·장비 일체 포함된 풀패키지 운영.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43500" y="3619195"/>
            <a:ext cx="3810305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43500" y="3819449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EMPLOYEE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143500" y="4105656"/>
            <a:ext cx="381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 + 웰빙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143500" y="4516222"/>
            <a:ext cx="3810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스쿠버·프리다이버 국제 자격증을 회사 지원으로. 평생 보유 가능한 자산.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334195" y="3619195"/>
            <a:ext cx="3810305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4195" y="3819449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VERIFICATION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334195" y="4105656"/>
            <a:ext cx="381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NGO 검증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334195" y="4516222"/>
            <a:ext cx="3810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Foundation의 글로벌 Dive Against Debris® DB에 정량 데이터 등재.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3525805" y="3619195"/>
            <a:ext cx="3810305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3525805" y="3819449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ESG REPORT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3525805" y="4105656"/>
            <a:ext cx="3810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· ISO · SDG 매핑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3525805" y="4516222"/>
            <a:ext cx="4472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요약 + 연말 통합 ESG 성과 보고서. 국제 표준 자동 매핑.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333195" y="6762902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즉시 받을 수 있는 산출물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7114946"/>
            <a:ext cx="57150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말이 아닌 </a:t>
            </a:r>
            <a:r>
              <a:rPr lang="en-US" sz="21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사실로 증명되는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해양보전 ESG. 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7429500" y="6858000"/>
            <a:ext cx="25722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2700" b="1" kern="0" spc="-24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</a:t>
            </a:r>
            <a:endParaRPr lang="en-US" sz="6000" dirty="0"/>
          </a:p>
        </p:txBody>
      </p:sp>
      <p:sp>
        <p:nvSpPr>
          <p:cNvPr id="35" name="Text 32"/>
          <p:cNvSpPr txBox="1"/>
          <p:nvPr/>
        </p:nvSpPr>
        <p:spPr>
          <a:xfrm>
            <a:off x="7429500" y="7677302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자격 보유 임직원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429500" y="7915046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가입 시 프리다이버 6 + 스쿠버 4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096805" y="6858000"/>
            <a:ext cx="299831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2400" b="1" kern="0" spc="-24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회/년</a:t>
            </a:r>
            <a:endParaRPr lang="en-US" sz="6000" dirty="0"/>
          </a:p>
        </p:txBody>
      </p:sp>
      <p:sp>
        <p:nvSpPr>
          <p:cNvPr id="38" name="Text 35"/>
          <p:cNvSpPr txBox="1"/>
          <p:nvPr/>
        </p:nvSpPr>
        <p:spPr>
          <a:xfrm>
            <a:off x="10096805" y="7677302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정례 수중 정화 사이클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096805" y="7915046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봄·여름·가을·겨울 분기 단위 운영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2763195" y="6858000"/>
            <a:ext cx="25722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2700" b="1" kern="0" spc="-24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000" dirty="0"/>
          </a:p>
        </p:txBody>
      </p:sp>
      <p:sp>
        <p:nvSpPr>
          <p:cNvPr id="41" name="Text 38"/>
          <p:cNvSpPr txBox="1"/>
          <p:nvPr/>
        </p:nvSpPr>
        <p:spPr>
          <a:xfrm>
            <a:off x="12763195" y="7677302"/>
            <a:ext cx="2572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 검증 커버리지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2763195" y="7915046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Foundation 국제 인증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5430500" y="6858000"/>
            <a:ext cx="24771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6000" dirty="0"/>
          </a:p>
        </p:txBody>
      </p:sp>
      <p:sp>
        <p:nvSpPr>
          <p:cNvPr id="44" name="Text 41"/>
          <p:cNvSpPr txBox="1"/>
          <p:nvPr/>
        </p:nvSpPr>
        <p:spPr>
          <a:xfrm>
            <a:off x="15430500" y="7677302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그린워싱 리스크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5430500" y="7915046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 불가능한 GPS·사진·국제 DB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952805" y="8458200"/>
            <a:ext cx="16383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 — 5 TANGIBLE OUTPUTS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143000" y="900135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0C2D7">
              <a:alpha val="15000"/>
            </a:srgbClr>
          </a:solidFill>
          <a:ln w="12700">
            <a:solidFill>
              <a:srgbClr val="00C2D7">
                <a:alpha val="4000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143000" y="900135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1752905" y="9055303"/>
            <a:ext cx="10908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활동 운영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752905" y="9262872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안전·보험·장비 일체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448556" y="900135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0C2D7">
              <a:alpha val="15000"/>
            </a:srgbClr>
          </a:solidFill>
          <a:ln w="12700">
            <a:solidFill>
              <a:srgbClr val="00C2D7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448556" y="900135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057546" y="9055303"/>
            <a:ext cx="1247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 카드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5057546" y="9262872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 보유 · 전 세계 활용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753198" y="900135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0C2D7">
              <a:alpha val="15000"/>
            </a:srgbClr>
          </a:solidFill>
          <a:ln w="12700">
            <a:solidFill>
              <a:srgbClr val="00C2D7">
                <a:alpha val="4000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753198" y="900135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8363102" y="9055303"/>
            <a:ext cx="23244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Dive Against Debris® DB 등재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8363102" y="9262872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국제기관 인증 증빙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11058754" y="900135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0C2D7">
              <a:alpha val="15000"/>
            </a:srgbClr>
          </a:solidFill>
          <a:ln w="12700">
            <a:solidFill>
              <a:srgbClr val="00C2D7">
                <a:alpha val="4000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1058754" y="900135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1667744" y="9055303"/>
            <a:ext cx="16888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+ 연간 ESG 보고서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11667744" y="9262872"/>
            <a:ext cx="16312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· ISO · SDG 매핑 완료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4363395" y="9001354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4363395" y="9001354"/>
            <a:ext cx="476402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14973300" y="9055303"/>
            <a:ext cx="1811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공동 인증서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4973300" y="9262872"/>
            <a:ext cx="1591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0A2540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후원 국제 비영리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7d3ede915fafc9038bacf6906ede72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4" name="Image 1" descr="gen-dedup-649aee21a8a1355867e96552f0c6d90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34a0c74497f2cc3e680a4168b521594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715500" y="4572000"/>
            <a:ext cx="8001000" cy="9144"/>
          </a:xfrm>
          <a:prstGeom prst="rect">
            <a:avLst/>
          </a:prstGeom>
        </p:spPr>
      </p:pic>
      <p:pic>
        <p:nvPicPr>
          <p:cNvPr id="7" name="Image 3" descr="gen-dedup-34a0c74497f2cc3e680a4168b521594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715500" y="6286500"/>
            <a:ext cx="8001000" cy="9144"/>
          </a:xfrm>
          <a:prstGeom prst="rect">
            <a:avLst/>
          </a:prstGeom>
        </p:spPr>
      </p:pic>
      <p:pic>
        <p:nvPicPr>
          <p:cNvPr id="8" name="Image 4" descr="gen-dedup-34a0c74497f2cc3e680a4168b521594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715500" y="8001000"/>
            <a:ext cx="8001000" cy="9144"/>
          </a:xfrm>
          <a:prstGeom prst="rect">
            <a:avLst/>
          </a:prstGeom>
        </p:spPr>
      </p:pic>
      <p:pic>
        <p:nvPicPr>
          <p:cNvPr id="9" name="Image 5" descr="gen-dedup-34a0c74497f2cc3e680a4168b5215942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715500" y="9715500"/>
            <a:ext cx="8001000" cy="9144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761695" y="761695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— WHY NOW</a:t>
            </a:r>
            <a:endParaRPr lang="en-US" sz="900" dirty="0"/>
          </a:p>
        </p:txBody>
      </p:sp>
      <p:sp>
        <p:nvSpPr>
          <p:cNvPr id="11" name="Text 3"/>
          <p:cNvSpPr txBox="1"/>
          <p:nvPr/>
        </p:nvSpPr>
        <p:spPr>
          <a:xfrm>
            <a:off x="761695" y="8572500"/>
            <a:ext cx="7620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OCEAN · MARINE DEBRIS</a:t>
            </a:r>
            <a:endParaRPr lang="en-US" sz="1000" dirty="0"/>
          </a:p>
        </p:txBody>
      </p:sp>
      <p:sp>
        <p:nvSpPr>
          <p:cNvPr id="12" name="Text 4"/>
          <p:cNvSpPr txBox="1"/>
          <p:nvPr/>
        </p:nvSpPr>
        <p:spPr>
          <a:xfrm>
            <a:off x="761695" y="8829446"/>
            <a:ext cx="7620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미세플라스틱은 결국 우리의 식탁으로 돌아옵니다.</a:t>
            </a:r>
            <a:endParaRPr lang="en-US" sz="1800" dirty="0"/>
          </a:p>
        </p:txBody>
      </p:sp>
      <p:sp>
        <p:nvSpPr>
          <p:cNvPr id="13" name="Text 5"/>
          <p:cNvSpPr txBox="1"/>
          <p:nvPr/>
        </p:nvSpPr>
        <p:spPr>
          <a:xfrm>
            <a:off x="9715500" y="761695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OCEAN CRISIS</a:t>
            </a:r>
            <a:endParaRPr lang="en-US" sz="900" dirty="0"/>
          </a:p>
        </p:txBody>
      </p:sp>
      <p:sp>
        <p:nvSpPr>
          <p:cNvPr id="14" name="Text 6"/>
          <p:cNvSpPr txBox="1"/>
          <p:nvPr/>
        </p:nvSpPr>
        <p:spPr>
          <a:xfrm>
            <a:off x="9715500" y="972007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8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23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9715500" y="1619402"/>
            <a:ext cx="8097012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바다는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</a:t>
            </a:r>
            <a:r>
              <a:rPr lang="en-US" sz="4800" b="1" kern="0" spc="-120" dirty="0">
                <a:solidFill>
                  <a:srgbClr val="FF6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sz="4800" b="1" kern="0" spc="-1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넘었습니다. </a:t>
            </a:r>
            <a:endParaRPr lang="en-US" sz="4800" dirty="0"/>
          </a:p>
        </p:txBody>
      </p:sp>
      <p:sp>
        <p:nvSpPr>
          <p:cNvPr id="16" name="Text 8"/>
          <p:cNvSpPr txBox="1"/>
          <p:nvPr/>
        </p:nvSpPr>
        <p:spPr>
          <a:xfrm>
            <a:off x="9715500" y="4809744"/>
            <a:ext cx="359816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20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480~1,270</a:t>
            </a:r>
            <a:endParaRPr lang="en-US" sz="5100" dirty="0"/>
          </a:p>
        </p:txBody>
      </p:sp>
      <p:sp>
        <p:nvSpPr>
          <p:cNvPr id="17" name="Text 9"/>
          <p:cNvSpPr txBox="1"/>
          <p:nvPr/>
        </p:nvSpPr>
        <p:spPr>
          <a:xfrm>
            <a:off x="9715500" y="5463540"/>
            <a:ext cx="3286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 톤 / 년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13229539" y="4905756"/>
            <a:ext cx="4496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 바다로 유입되는 플라스틱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13229539" y="5202022"/>
            <a:ext cx="52257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북태평양에는 남한 면적의 약 16배(약 160만㎢)에 달하는 거대 쓰레기 지대 형성.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9715500" y="6524244"/>
            <a:ext cx="370423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20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14~17</a:t>
            </a:r>
            <a:r>
              <a:rPr lang="en-US" sz="2500" b="1" kern="0" spc="-20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만톤</a:t>
            </a:r>
            <a:endParaRPr lang="en-US" sz="5100" dirty="0"/>
          </a:p>
        </p:txBody>
      </p:sp>
      <p:sp>
        <p:nvSpPr>
          <p:cNvPr id="21" name="Text 13"/>
          <p:cNvSpPr txBox="1"/>
          <p:nvPr/>
        </p:nvSpPr>
        <p:spPr>
          <a:xfrm>
            <a:off x="9715500" y="7178040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국내 / 년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2611405" y="6620256"/>
            <a:ext cx="51060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연안 해양쓰레기 연 발생량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2611405" y="6916522"/>
            <a:ext cx="5106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FF6A4D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 이상이 수거되지 못한 채</a:t>
            </a:r>
            <a:r>
              <a:rPr lang="en-US" sz="10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해저 침적·부유로 생태계를 위협.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9715500" y="8238744"/>
            <a:ext cx="370423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20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3,787</a:t>
            </a:r>
            <a:r>
              <a:rPr lang="en-US" sz="2500" b="1" kern="0" spc="-20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억원</a:t>
            </a:r>
            <a:endParaRPr lang="en-US" sz="5100" dirty="0"/>
          </a:p>
        </p:txBody>
      </p:sp>
      <p:sp>
        <p:nvSpPr>
          <p:cNvPr id="25" name="Text 17"/>
          <p:cNvSpPr txBox="1"/>
          <p:nvPr/>
        </p:nvSpPr>
        <p:spPr>
          <a:xfrm>
            <a:off x="9715500" y="8892540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연간 손실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12611405" y="8334756"/>
            <a:ext cx="51060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유령어업(Ghost Fishing) 피해액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2611405" y="8631022"/>
            <a:ext cx="5106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버려진 폐어망에 의한 어업 손실. 2011년 호우 시 관광피해 300억 원 별도.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3143707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6695" y="3143707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1500" y="3143707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805" y="52385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76695" y="52385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0" y="52385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6A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7524598"/>
            <a:ext cx="16383305" cy="2095805"/>
          </a:xfrm>
          <a:prstGeom prst="roundRect">
            <a:avLst>
              <a:gd name="adj" fmla="val 158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· CORPORATE RISK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해양오염은 이미 </a:t>
            </a:r>
            <a:r>
              <a:rPr lang="en-US" sz="4600" b="1" kern="0" spc="-116" dirty="0">
                <a:solidFill>
                  <a:srgbClr val="FF6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기업의 경영 리스크</a:t>
            </a: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095805"/>
            <a:ext cx="1428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환경단체와 정부만의 과제가 아닙니다. 공급망·평가·규제·지역사회 — 6개 축에서 동시에 압박이 옵니다.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38098" y="3381451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8098" y="3381451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790395" y="3448202"/>
            <a:ext cx="14648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공급망 안정성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38098" y="399135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어업·양식업 위축으로 식품·수산 가공업 원재료 가격 변동성 증가. 미세플라스틱이 먹이사슬을 통해 인간에게 회귀.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2902" y="3381451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2902" y="3381451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3448202"/>
            <a:ext cx="14648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신뢰도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762902" y="399135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활동 미흡 기업에 대한 소비자·MZ세대 이탈. 환경·사회적 실천이 구매 결정의 주요 기준.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2287707" y="3381451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287707" y="3381451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2840005" y="3448202"/>
            <a:ext cx="12426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평가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2287707" y="399135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MSCI · Sustainalytics · KCGS의 환경 점수 하락. 글로벌 투자자들의 ESG 등급 낮은 기업 회피.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238098" y="5477256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38098" y="5477256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790395" y="5544007"/>
            <a:ext cx="102138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비용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608624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규제 강화 및 탄소 비용 증가. ISSB · EU CSRD · 국내 ESG 공시 의무화로 보고 의무 확대.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762902" y="5477256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62902" y="5477256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5544007"/>
            <a:ext cx="14648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 갈등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762902" y="608624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연안 사업장 인근 주민·어민과의 마찰. 환경 문제 방치 시 사업 인허가 리스크로 직결.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2287707" y="5477256"/>
            <a:ext cx="437998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287707" y="5477256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2840005" y="5544007"/>
            <a:ext cx="18187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경제적 직접 손실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2287707" y="6086246"/>
            <a:ext cx="4763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9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유령어업 </a:t>
            </a:r>
            <a:r>
              <a:rPr lang="en-US" sz="1200" b="1" kern="0" spc="-12" dirty="0">
                <a:solidFill>
                  <a:srgbClr val="FFFFFF">
                    <a:alpha val="9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3,787억 원</a:t>
            </a:r>
            <a:r>
              <a:rPr lang="en-US" sz="1200" kern="0" spc="-12" dirty="0">
                <a:solidFill>
                  <a:srgbClr val="FFFFFF">
                    <a:alpha val="9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손실. 폐어망에 의한 어업 피해, 호우 시 관광피해 별도. 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7810805"/>
            <a:ext cx="8572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정부 정책 방향 · NET NEGATIVE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8162849"/>
            <a:ext cx="905347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2024년부터 해양쓰레기 </a:t>
            </a:r>
            <a:r>
              <a:rPr lang="en-US" sz="24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순발생량(Net Negative)</a:t>
            </a:r>
            <a:r>
              <a:rPr lang="en-US" sz="24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달성 목표 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1333195" y="8707831"/>
            <a:ext cx="8572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해양수산부 「해양쓰레기 저감 혁신대책」(2023). </a:t>
            </a:r>
            <a:r>
              <a:rPr lang="en-US" sz="1200" b="1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유입량보다 수거량이 많은 구조</a:t>
            </a:r>
            <a:r>
              <a:rPr lang="en-US" sz="12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로의 전환을 추진. 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참여하는 기업은 규제 변화를 앞서 준비하고, 환경 선도 기업으로서 유리한 위치를 선점합니다. 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3144500" y="7810805"/>
            <a:ext cx="4000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9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3144500" y="8076895"/>
            <a:ext cx="4000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해양수산부 「해양쓰레기 저감 혁신대책」 (2023)</a:t>
            </a:r>
            <a:endParaRPr lang="en-US" sz="1000" dirty="0"/>
          </a:p>
          <a:p>
            <a:pPr marL="0" indent="0" algn="r">
              <a:buNone/>
            </a:pPr>
            <a:r>
              <a:rPr lang="en-US" sz="10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금융감독원 ESG 공시 의무화 로드맵</a:t>
            </a:r>
            <a:endParaRPr lang="en-US" sz="1000" dirty="0"/>
          </a:p>
          <a:p>
            <a:pPr marL="0" indent="0" algn="r">
              <a:buNone/>
            </a:pPr>
            <a:r>
              <a:rPr lang="en-US" sz="1000" kern="0" spc="-12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 CSRD · ISSB IFRS S1·S2 (2024~)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5238598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805" y="2952598"/>
            <a:ext cx="57607" cy="2190902"/>
          </a:xfrm>
          <a:prstGeom prst="roundRect">
            <a:avLst>
              <a:gd name="adj" fmla="val 55211"/>
            </a:avLst>
          </a:prstGeom>
          <a:solidFill>
            <a:srgbClr val="FF6A4D"/>
          </a:solidFill>
          <a:ln w="12700">
            <a:solidFill>
              <a:srgbClr val="FF6A4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24244" y="2952598"/>
            <a:ext cx="5238598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4244" y="2952598"/>
            <a:ext cx="57607" cy="2190902"/>
          </a:xfrm>
          <a:prstGeom prst="roundRect">
            <a:avLst>
              <a:gd name="adj" fmla="val 55211"/>
            </a:avLst>
          </a:prstGeom>
          <a:solidFill>
            <a:srgbClr val="FF6A4D"/>
          </a:solidFill>
          <a:ln w="12700">
            <a:solidFill>
              <a:srgbClr val="FF6A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96598" y="2952598"/>
            <a:ext cx="5238598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598" y="2952598"/>
            <a:ext cx="57607" cy="2190902"/>
          </a:xfrm>
          <a:prstGeom prst="roundRect">
            <a:avLst>
              <a:gd name="adj" fmla="val 55211"/>
            </a:avLst>
          </a:prstGeom>
          <a:solidFill>
            <a:srgbClr val="FF6A4D"/>
          </a:solidFill>
          <a:ln w="12700">
            <a:solidFill>
              <a:srgbClr val="FF6A4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5572354"/>
            <a:ext cx="16383305" cy="761695"/>
          </a:xfrm>
          <a:prstGeom prst="roundRect">
            <a:avLst>
              <a:gd name="adj" fmla="val 12005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· THE NEW STANDARD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ESG 보고, 이제는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'실천'을 증명</a:t>
            </a: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해야 합니다. 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190902"/>
            <a:ext cx="10478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투자자, 소비자, 규제 당국은 이제 단순한 선언이 아니라 다음 질문에 대한 답을 요구합니다.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3191256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80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Q1.</a:t>
            </a:r>
            <a:endParaRPr lang="en-US" sz="45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3895344"/>
            <a:ext cx="4668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"작년에 구체적으로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했습니까?" 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4636922"/>
            <a:ext cx="4668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선언이나 계획이 아닌 — 행동의 증거.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905549" y="3191256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80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Q2.</a:t>
            </a:r>
            <a:endParaRPr lang="en-US" sz="4500" dirty="0"/>
          </a:p>
        </p:txBody>
      </p:sp>
      <p:sp>
        <p:nvSpPr>
          <p:cNvPr id="19" name="Text 16"/>
          <p:cNvSpPr txBox="1"/>
          <p:nvPr/>
        </p:nvSpPr>
        <p:spPr>
          <a:xfrm>
            <a:off x="6905549" y="3895344"/>
            <a:ext cx="4668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"환경 지표가 얼마나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개선되었습니까?" 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5549" y="4636922"/>
            <a:ext cx="4668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수치 — kg, 건, 시간, 좌표.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477902" y="3191256"/>
            <a:ext cx="4668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80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Q3.</a:t>
            </a:r>
            <a:endParaRPr lang="en-US" sz="4500" dirty="0"/>
          </a:p>
        </p:txBody>
      </p:sp>
      <p:sp>
        <p:nvSpPr>
          <p:cNvPr id="22" name="Text 19"/>
          <p:cNvSpPr txBox="1"/>
          <p:nvPr/>
        </p:nvSpPr>
        <p:spPr>
          <a:xfrm>
            <a:off x="12477902" y="3895344"/>
            <a:ext cx="4668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"이를 어떻게 객관적으로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증명할 수 있습니까?" 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2477902" y="4636922"/>
            <a:ext cx="4668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 검증 — 국제 NGO·표준 매핑.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5790895"/>
            <a:ext cx="68205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"명확히 답하지 못하면 그린워싱(greenwashing) 비판에 직면합니다."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62418" y="5829300"/>
            <a:ext cx="5505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EU CSRD · ISSB 모두 검증 가능한 데이터를 핵심 요건으로 명시.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52805" y="6762902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 HOW WE PROVE IT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52805" y="7048195"/>
            <a:ext cx="5715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MOBA는 </a:t>
            </a:r>
            <a:r>
              <a:rPr lang="en-US" sz="22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 불가능한 증거</a:t>
            </a:r>
            <a:r>
              <a:rPr lang="en-US" sz="2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답합니다.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952805" y="8287207"/>
            <a:ext cx="3952951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2805" y="8467344"/>
            <a:ext cx="3952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행동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52805" y="8982151"/>
            <a:ext cx="39529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임직원이 직접 바다에 들어가 수거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95951" y="8287207"/>
            <a:ext cx="3952951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95951" y="8467344"/>
            <a:ext cx="3952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증거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5095951" y="8982151"/>
            <a:ext cx="39529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수중카메라 · GPS · 무게·개수 현장 계측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239098" y="8287207"/>
            <a:ext cx="3952951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39098" y="8467344"/>
            <a:ext cx="3952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NGO 검증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9239098" y="8982151"/>
            <a:ext cx="39529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Foundation 공식 DB 등재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3382244" y="8287207"/>
            <a:ext cx="3952951" cy="28346"/>
          </a:xfrm>
          <a:prstGeom prst="rect">
            <a:avLst/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382244" y="8467344"/>
            <a:ext cx="39529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 정책 반영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13382244" y="8982151"/>
            <a:ext cx="39529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국제기구 정책 자료로 활용 가능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2740fa348504550a32d79a2b57bd92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2809951"/>
            <a:ext cx="5143500" cy="571500"/>
          </a:xfrm>
          <a:prstGeom prst="rect">
            <a:avLst/>
          </a:prstGeom>
        </p:spPr>
      </p:pic>
      <p:pic>
        <p:nvPicPr>
          <p:cNvPr id="4" name="Image 1" descr="gen-dedup-254fa35ecf12652bfaa8fb14ff05942b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6286500" y="2809951"/>
            <a:ext cx="5333695" cy="571500"/>
          </a:xfrm>
          <a:prstGeom prst="rect">
            <a:avLst/>
          </a:prstGeom>
        </p:spPr>
      </p:pic>
      <p:pic>
        <p:nvPicPr>
          <p:cNvPr id="5" name="Image 2" descr="gen-dedup-b2c99111be34c01ce2f921f4ca93981f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11811305" y="2809951"/>
            <a:ext cx="5524805" cy="571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52805" y="3381451"/>
            <a:ext cx="5143500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6286500" y="3381451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1811305" y="3381451"/>
            <a:ext cx="5524805" cy="952805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52805" y="4334256"/>
            <a:ext cx="5143500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286500" y="4334256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811305" y="4334256"/>
            <a:ext cx="5524805" cy="952805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52805" y="5286146"/>
            <a:ext cx="5143500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86500" y="5286146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1811305" y="5286146"/>
            <a:ext cx="5524805" cy="952805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52805" y="6238951"/>
            <a:ext cx="5143500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86500" y="6238951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811305" y="6238951"/>
            <a:ext cx="5524805" cy="952805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52805" y="7191756"/>
            <a:ext cx="5143500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86500" y="7191756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811305" y="7191756"/>
            <a:ext cx="5524805" cy="952805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pic>
        <p:nvPicPr>
          <p:cNvPr id="21" name="Image 3" descr="gen-dedup-adc39e7e692f6d4578a65799cfcd9b3a.png"/>
          <p:cNvPicPr>
            <a:picLocks noChangeAspect="1"/>
          </p:cNvPicPr>
          <p:nvPr/>
        </p:nvPicPr>
        <p:blipFill>
          <a:blip r:embed="rId6"/>
          <a:srcRect t="-16" b="-16"/>
          <a:stretch/>
        </p:blipFill>
        <p:spPr>
          <a:xfrm>
            <a:off x="952805" y="8143646"/>
            <a:ext cx="5143500" cy="952805"/>
          </a:xfrm>
          <a:prstGeom prst="rect">
            <a:avLst/>
          </a:prstGeom>
        </p:spPr>
      </p:pic>
      <p:pic>
        <p:nvPicPr>
          <p:cNvPr id="22" name="Image 4" descr="gen-dedup-430186ef6902b91435096d956045b50a.png"/>
          <p:cNvPicPr>
            <a:picLocks noChangeAspect="1"/>
          </p:cNvPicPr>
          <p:nvPr/>
        </p:nvPicPr>
        <p:blipFill>
          <a:blip r:embed="rId7"/>
          <a:srcRect t="-19" b="-19"/>
          <a:stretch/>
        </p:blipFill>
        <p:spPr>
          <a:xfrm>
            <a:off x="6286500" y="8143646"/>
            <a:ext cx="5333695" cy="952805"/>
          </a:xfrm>
          <a:prstGeom prst="rect">
            <a:avLst/>
          </a:prstGeom>
        </p:spPr>
      </p:pic>
      <p:pic>
        <p:nvPicPr>
          <p:cNvPr id="23" name="Image 5" descr="gen-dedup-29f08ec0ea0a1db2bb0a41d7db3de812.png"/>
          <p:cNvPicPr>
            <a:picLocks noChangeAspect="1"/>
          </p:cNvPicPr>
          <p:nvPr/>
        </p:nvPicPr>
        <p:blipFill>
          <a:blip r:embed="rId8"/>
          <a:srcRect t="-13" b="-13"/>
          <a:stretch/>
        </p:blipFill>
        <p:spPr>
          <a:xfrm>
            <a:off x="11811305" y="8143646"/>
            <a:ext cx="5524805" cy="952805"/>
          </a:xfrm>
          <a:prstGeom prst="rect">
            <a:avLst/>
          </a:prstGeom>
        </p:spPr>
      </p:pic>
      <p:pic>
        <p:nvPicPr>
          <p:cNvPr id="24" name="Image 6" descr="gen-dedup-704129f0ca36c8745d7788242aa1b9c7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· OUR APPROACH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23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MOBA가 다른 ESG 활동과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결정적으로 다른 점</a:t>
            </a:r>
            <a:endParaRPr lang="en-US" sz="4600" dirty="0"/>
          </a:p>
        </p:txBody>
      </p:sp>
      <p:sp>
        <p:nvSpPr>
          <p:cNvPr id="28" name="Text 19"/>
          <p:cNvSpPr txBox="1"/>
          <p:nvPr/>
        </p:nvSpPr>
        <p:spPr>
          <a:xfrm>
            <a:off x="952805" y="2048256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왼쪽은 시장의 일반적 ESG 활동, 오른쪽은 MOBA. 같은 행을 비교해 보세요.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1238098" y="2952598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평가 항목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6572707" y="295259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8" dirty="0">
                <a:solidFill>
                  <a:srgbClr val="2C3E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 ESG 활동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2096598" y="2952598"/>
            <a:ext cx="495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8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238098" y="36191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결과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572707" y="3619195"/>
            <a:ext cx="4763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정성적 사례 중심.</a:t>
            </a:r>
            <a:endParaRPr lang="en-US" sz="1200" dirty="0"/>
          </a:p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"00번 봉사 진행했다"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12096598" y="3571646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폐기물 무게(kg)·품목·GPS 좌표까지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데이터화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238098" y="4572000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주체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572707" y="4572000"/>
            <a:ext cx="4763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보고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2096598" y="4524451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Foundation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(PADI 후원 국제 비영리)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238098" y="552480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혜택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6572707" y="5524805"/>
            <a:ext cx="4763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일회성 봉사 시간 인정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12096598" y="5477256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 사용 가능한 국제 자격증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레저 취미 + 글로벌 인증카드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238098" y="64766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표준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6572707" y="6476695"/>
            <a:ext cx="4763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매핑 필요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12096598" y="6429146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306 · ISO 14001 · SDG 14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매핑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1238098" y="7429500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그린워싱 리스크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6572707" y="7429500"/>
            <a:ext cx="4763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FF6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r>
              <a:rPr lang="en-US" sz="1200" b="1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(사진·계획만으로 부족)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12096598" y="7381951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사실상 0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(조작 불가능한 GPS·사진·국제 DB)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1238098" y="838230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지속성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6572707" y="8382305"/>
            <a:ext cx="4763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 이벤트로 끝나는 경우 多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12096598" y="8334756"/>
            <a:ext cx="4953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4회 정례</a:t>
            </a: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분기별 리포트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기업 문화로 정착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952805" y="9381744"/>
            <a:ext cx="1638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같은 ESG 예산으로 </a:t>
            </a: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가능한 성과 + 임직원 평생 자산</a:t>
            </a:r>
            <a:r>
              <a:rPr lang="en-US" sz="13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동시에 확보합니다.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811098" y="-1904695"/>
            <a:ext cx="7619695" cy="7619695"/>
          </a:xfrm>
          <a:prstGeom prst="ellipse">
            <a:avLst/>
          </a:prstGeom>
          <a:noFill/>
          <a:ln w="12700">
            <a:solidFill>
              <a:srgbClr val="00C2D7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63902" y="-952805"/>
            <a:ext cx="5715000" cy="5715000"/>
          </a:xfrm>
          <a:prstGeom prst="ellipse">
            <a:avLst/>
          </a:prstGeom>
          <a:noFill/>
          <a:ln w="12700">
            <a:solidFill>
              <a:srgbClr val="00C2D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805" y="3619195"/>
            <a:ext cx="3619195" cy="4572000"/>
          </a:xfrm>
          <a:prstGeom prst="roundRect">
            <a:avLst>
              <a:gd name="adj" fmla="val 53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3500" y="3619195"/>
            <a:ext cx="3619195" cy="4572000"/>
          </a:xfrm>
          <a:prstGeom prst="roundRect">
            <a:avLst>
              <a:gd name="adj" fmla="val 53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34195" y="3619195"/>
            <a:ext cx="3619195" cy="4572000"/>
          </a:xfrm>
          <a:prstGeom prst="roundRect">
            <a:avLst>
              <a:gd name="adj" fmla="val 53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25805" y="3619195"/>
            <a:ext cx="3810305" cy="4572000"/>
          </a:xfrm>
          <a:prstGeom prst="roundRect">
            <a:avLst>
              <a:gd name="adj" fmla="val 480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8762695"/>
            <a:ext cx="16383305" cy="952805"/>
          </a:xfrm>
          <a:prstGeom prst="roundRect">
            <a:avLst>
              <a:gd name="adj" fmla="val 7678"/>
            </a:avLst>
          </a:prstGeom>
          <a:solidFill>
            <a:srgbClr val="00C2D7">
              <a:alpha val="10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pic>
        <p:nvPicPr>
          <p:cNvPr id="10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· THE OPERATING CYCLE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단순하지만 강력한 </a:t>
            </a:r>
            <a:r>
              <a:rPr lang="en-US" sz="4600" b="1" kern="0" spc="-116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4-Step 사이클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190902"/>
            <a:ext cx="14287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분기마다 반복되는 이 사이클이 ESG 보고서의 정량 성과를 만듭니다.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8098" y="3905402"/>
            <a:ext cx="3048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800" dirty="0"/>
          </a:p>
        </p:txBody>
      </p:sp>
      <p:pic>
        <p:nvPicPr>
          <p:cNvPr id="16" name="Image 1" descr="gen-dedup-0a219b1c2376b7904ee77f608217cacb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238098" y="4647895"/>
            <a:ext cx="571500" cy="192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38098" y="4895698"/>
            <a:ext cx="3048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— EDUCATE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238098" y="5171846"/>
            <a:ext cx="30486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(자격)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1238098" y="6269126"/>
            <a:ext cx="3048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PADI 스쿠버 / 프리다이버 국제 자격증 취득 지원. 자격 보유자는 </a:t>
            </a:r>
            <a:r>
              <a:rPr lang="en-US" sz="1100" b="1" kern="0" spc="-12" dirty="0">
                <a:solidFill>
                  <a:srgbClr val="6FE0E7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Dive Against Debris® Specialty</a:t>
            </a:r>
            <a:r>
              <a:rPr lang="en-US" sz="11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추가 교육 수강. 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619549" y="5715000"/>
            <a:ext cx="476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Text 17"/>
          <p:cNvSpPr txBox="1"/>
          <p:nvPr/>
        </p:nvSpPr>
        <p:spPr>
          <a:xfrm>
            <a:off x="5429707" y="3905402"/>
            <a:ext cx="3048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800" dirty="0"/>
          </a:p>
        </p:txBody>
      </p:sp>
      <p:pic>
        <p:nvPicPr>
          <p:cNvPr id="22" name="Image 2" descr="gen-dedup-0a219b1c2376b7904ee77f608217cacb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429707" y="4647895"/>
            <a:ext cx="571500" cy="192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429707" y="4895698"/>
            <a:ext cx="3048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— CLEAN UP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429707" y="5171846"/>
            <a:ext cx="30486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</a:t>
            </a:r>
            <a:endParaRPr lang="en-US" sz="2800" dirty="0"/>
          </a:p>
        </p:txBody>
      </p:sp>
      <p:sp>
        <p:nvSpPr>
          <p:cNvPr id="25" name="Text 20"/>
          <p:cNvSpPr txBox="1"/>
          <p:nvPr/>
        </p:nvSpPr>
        <p:spPr>
          <a:xfrm>
            <a:off x="5429707" y="6269126"/>
            <a:ext cx="3048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2~3인 1조 페어 다이빙으로 폐어망·플라스틱·금속·유리 등 수거. 전문 인솔자 동행, 수심 2~10m 안전 범위 내 운영.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810244" y="5715000"/>
            <a:ext cx="476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sp>
        <p:nvSpPr>
          <p:cNvPr id="27" name="Text 22"/>
          <p:cNvSpPr txBox="1"/>
          <p:nvPr/>
        </p:nvSpPr>
        <p:spPr>
          <a:xfrm>
            <a:off x="9620402" y="3905402"/>
            <a:ext cx="3048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800" dirty="0"/>
          </a:p>
        </p:txBody>
      </p:sp>
      <p:pic>
        <p:nvPicPr>
          <p:cNvPr id="28" name="Image 3" descr="gen-dedup-0a219b1c2376b7904ee77f608217cacb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620402" y="4647895"/>
            <a:ext cx="571500" cy="192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620402" y="4895698"/>
            <a:ext cx="3048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— UPLOAD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9620402" y="5171846"/>
            <a:ext cx="30486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</a:t>
            </a:r>
            <a:endParaRPr lang="en-US" sz="2800" dirty="0"/>
          </a:p>
        </p:txBody>
      </p:sp>
      <p:sp>
        <p:nvSpPr>
          <p:cNvPr id="31" name="Text 25"/>
          <p:cNvSpPr txBox="1"/>
          <p:nvPr/>
        </p:nvSpPr>
        <p:spPr>
          <a:xfrm>
            <a:off x="9620402" y="6269126"/>
            <a:ext cx="3048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Dive Against Debris® 글로벌 DB</a:t>
            </a:r>
            <a:r>
              <a:rPr lang="en-US" sz="11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품목·무게·GPS·시각 데이터 등재. 국제기구 정책 자료로 활용. 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3001854" y="5715000"/>
            <a:ext cx="476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sp>
        <p:nvSpPr>
          <p:cNvPr id="33" name="Text 27"/>
          <p:cNvSpPr txBox="1"/>
          <p:nvPr/>
        </p:nvSpPr>
        <p:spPr>
          <a:xfrm>
            <a:off x="13811098" y="3905402"/>
            <a:ext cx="3238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800" dirty="0"/>
          </a:p>
        </p:txBody>
      </p:sp>
      <p:pic>
        <p:nvPicPr>
          <p:cNvPr id="34" name="Image 4" descr="gen-dedup-8f074c6cf09f60dcd02a09815233eff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3811098" y="4647895"/>
            <a:ext cx="571500" cy="192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811098" y="4895698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— REPORT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3811098" y="5171846"/>
            <a:ext cx="32388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</a:t>
            </a:r>
            <a:endParaRPr lang="en-US" sz="2800" dirty="0"/>
          </a:p>
        </p:txBody>
      </p:sp>
      <p:sp>
        <p:nvSpPr>
          <p:cNvPr id="37" name="Text 30"/>
          <p:cNvSpPr txBox="1"/>
          <p:nvPr/>
        </p:nvSpPr>
        <p:spPr>
          <a:xfrm>
            <a:off x="13811098" y="6269126"/>
            <a:ext cx="3238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분기 요약 → 연말 통합 보고서. </a:t>
            </a:r>
            <a:r>
              <a:rPr lang="en-US" sz="1100" b="1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306 · ISO 14001 · SDG 14</a:t>
            </a:r>
            <a:r>
              <a:rPr lang="en-US" sz="1100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자동 매핑. 지속가능경영 보고서에 즉시 반영. 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333195" y="9001354"/>
            <a:ext cx="6629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FREQUENCY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333195" y="9210751"/>
            <a:ext cx="801197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↻ 연 4회, 분기마다 반복 — 일회성 이벤트가 아닌 </a:t>
            </a:r>
            <a:r>
              <a:rPr lang="en-US" sz="18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지속가능한 프로세스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12241987" y="9055303"/>
            <a:ext cx="47173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kern="0" spc="-1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· Q2 · Q3 · Q4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8001000" cy="3143707"/>
          </a:xfrm>
          <a:prstGeom prst="roundRect">
            <a:avLst>
              <a:gd name="adj" fmla="val 705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2952598"/>
            <a:ext cx="8001000" cy="3143707"/>
          </a:xfrm>
          <a:prstGeom prst="roundRect">
            <a:avLst>
              <a:gd name="adj" fmla="val 70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805" y="6286500"/>
            <a:ext cx="5333695" cy="3619195"/>
          </a:xfrm>
          <a:prstGeom prst="roundRect">
            <a:avLst>
              <a:gd name="adj" fmla="val 53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7805" y="6286500"/>
            <a:ext cx="5333695" cy="3619195"/>
          </a:xfrm>
          <a:prstGeom prst="roundRect">
            <a:avLst>
              <a:gd name="adj" fmla="val 53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82805" y="6286500"/>
            <a:ext cx="4953305" cy="3619195"/>
          </a:xfrm>
          <a:prstGeom prst="roundRect">
            <a:avLst>
              <a:gd name="adj" fmla="val 532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· CORPORATE VALUE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23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기업이 얻는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본질적 가치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보고서용 비용이 아닌 — 인사·복지 예산과 동시에 충당되는 일거양득 투자.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3238805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01</a:t>
            </a:r>
            <a:endParaRPr lang="en-US" sz="1000" dirty="0"/>
          </a:p>
        </p:txBody>
      </p:sp>
      <p:pic>
        <p:nvPicPr>
          <p:cNvPr id="14" name="Image 1" descr="gen-dedup-092a9eabc40bd6e677d97eab3fede95e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2446934" y="3314700"/>
            <a:ext cx="6125566" cy="91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33195" y="3571646"/>
            <a:ext cx="7239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가능한 ESG 데이터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27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정량으로 말합니다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4619549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폐기물의 종류 · 무게 · 개수, 정확한 GPS 좌표와 수거 시각까지 모두 데이터화. PADI AWARE Foundation의 Dive Against Debris® 글로벌 DB에 등재되어 GRI 306, ISO 14001, UN SDG 14에 자동 매핑됩니다.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715500" y="3238805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1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02</a:t>
            </a:r>
            <a:endParaRPr lang="en-US" sz="1000" dirty="0"/>
          </a:p>
        </p:txBody>
      </p:sp>
      <p:pic>
        <p:nvPicPr>
          <p:cNvPr id="18" name="Image 2" descr="gen-dedup-9856a1a43699f6e29cd94dac129e2e36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854842" y="3314700"/>
            <a:ext cx="6099048" cy="91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715500" y="3571646"/>
            <a:ext cx="7239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그린워싱 리스크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차단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9715500" y="4619549"/>
            <a:ext cx="7239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 CSRD · ISSB의 검증 가능성 요건에 정합. PADI AWARE Foundation의 공동 명의 인증서 + 감사 서한으로 글로벌 스탠다드 부합. "우리는 해양보전에 기여합니다"라는 주장에 국제 NGO의 공식 문서가 따라붙습니다.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38098" y="6572707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03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238098" y="6858000"/>
            <a:ext cx="47631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브랜드 가치와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사회적 신뢰 상승 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1238098" y="7703820"/>
            <a:ext cx="47631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"말이 아닌 행동"</a:t>
            </a: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메시지의 시장 전달. 광고가 아닌 실제 일어난 일에 대한 기록이기에 진정성이 압도적. 본사·사업장 인근 정기 정화로 지자체 감사장·언론 보도 자연 발생. 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238098" y="8582558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238098" y="8744407"/>
            <a:ext cx="4763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marL="0" indent="0" algn="l">
              <a:buNone/>
            </a:pPr>
            <a:r>
              <a:rPr lang="en-US" sz="9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📰 ICC Day · AWARE Week 미디어 노출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953098" y="6572707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04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953098" y="6858000"/>
            <a:ext cx="47631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규제 선제 대응 +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등급 상승 </a:t>
            </a:r>
            <a:endParaRPr lang="en-US" sz="2100" dirty="0"/>
          </a:p>
        </p:txBody>
      </p:sp>
      <p:sp>
        <p:nvSpPr>
          <p:cNvPr id="28" name="Text 23"/>
          <p:cNvSpPr txBox="1"/>
          <p:nvPr/>
        </p:nvSpPr>
        <p:spPr>
          <a:xfrm>
            <a:off x="6953098" y="7703820"/>
            <a:ext cx="47631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ISSB · EU CSRD · 미국 SEC 기후공시 대응 데이터 확보. KCGS · Sustainalytics · MSCI의 환경(E) 부문 등급 상승 기대. </a:t>
            </a:r>
            <a:r>
              <a:rPr lang="en-US" sz="1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DJSI 평가</a:t>
            </a: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활용 가능 자료 축적. 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953098" y="8582558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953098" y="8744407"/>
            <a:ext cx="4763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marL="0" indent="0" algn="l">
              <a:buNone/>
            </a:pPr>
            <a:r>
              <a:rPr lang="en-US" sz="9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📈 KCGS · MSCI · Sustainalytics · DJSI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2668098" y="6572707"/>
            <a:ext cx="4381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05 — UNIQUE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2668098" y="6858000"/>
            <a:ext cx="4381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복지·조직문화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 효과 </a:t>
            </a:r>
            <a:endParaRPr lang="en-US" sz="2100" dirty="0"/>
          </a:p>
        </p:txBody>
      </p:sp>
      <p:sp>
        <p:nvSpPr>
          <p:cNvPr id="33" name="Shape 28"/>
          <p:cNvSpPr/>
          <p:nvPr/>
        </p:nvSpPr>
        <p:spPr>
          <a:xfrm>
            <a:off x="12668098" y="8582558"/>
            <a:ext cx="4381805" cy="9144"/>
          </a:xfrm>
          <a:prstGeom prst="rect">
            <a:avLst/>
          </a:prstGeom>
          <a:solidFill>
            <a:srgbClr val="042540">
              <a:alpha val="30000"/>
            </a:srgbClr>
          </a:solidFill>
          <a:ln w="12700">
            <a:solidFill>
              <a:srgbClr val="042540">
                <a:alpha val="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2668098" y="8744407"/>
            <a:ext cx="43818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15240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💎 같은 예산, 2배의 가치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2668098" y="7703820"/>
            <a:ext cx="4381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가입비 2,000만 원으로 임직원 10명에게 </a:t>
            </a:r>
            <a:r>
              <a:rPr lang="en-US" sz="1100" b="1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 가치를 갖는 국제 자격증</a:t>
            </a:r>
            <a:r>
              <a:rPr lang="en-US" sz="1100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지원. ESG 비용이 아닌 인사·복지 투자로 분류 가능. ESG·복지 예산 동시 충당.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5429707" cy="6858000"/>
          </a:xfrm>
          <a:prstGeom prst="roundRect">
            <a:avLst>
              <a:gd name="adj" fmla="val 23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707" y="2952598"/>
            <a:ext cx="5429707" cy="6858000"/>
          </a:xfrm>
          <a:prstGeom prst="roundRect">
            <a:avLst>
              <a:gd name="adj" fmla="val 23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1695" y="2952598"/>
            <a:ext cx="5143500" cy="6858000"/>
          </a:xfrm>
          <a:prstGeom prst="roundRect">
            <a:avLst>
              <a:gd name="adj" fmla="val 263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pic>
        <p:nvPicPr>
          <p:cNvPr id="6" name="Image 0" descr="gen-dedup-952b5767cc80b35c9adeb2f211aa3911.png"/>
          <p:cNvPicPr>
            <a:picLocks noChangeAspect="1"/>
          </p:cNvPicPr>
          <p:nvPr/>
        </p:nvPicPr>
        <p:blipFill>
          <a:blip r:embed="rId3"/>
          <a:srcRect t="-22" b="-22"/>
          <a:stretch/>
        </p:blipFill>
        <p:spPr>
          <a:xfrm>
            <a:off x="952805" y="2952598"/>
            <a:ext cx="5429707" cy="857707"/>
          </a:xfrm>
          <a:prstGeom prst="rect">
            <a:avLst/>
          </a:prstGeom>
        </p:spPr>
      </p:pic>
      <p:pic>
        <p:nvPicPr>
          <p:cNvPr id="7" name="Image 1" descr="gen-dedup-af2c50283aedb2491517b51064df7470.png"/>
          <p:cNvPicPr>
            <a:picLocks noChangeAspect="1"/>
          </p:cNvPicPr>
          <p:nvPr/>
        </p:nvPicPr>
        <p:blipFill>
          <a:blip r:embed="rId4"/>
          <a:srcRect t="-22" b="-22"/>
          <a:stretch/>
        </p:blipFill>
        <p:spPr>
          <a:xfrm>
            <a:off x="6572707" y="2952598"/>
            <a:ext cx="5429707" cy="857707"/>
          </a:xfrm>
          <a:prstGeom prst="rect">
            <a:avLst/>
          </a:prstGeom>
        </p:spPr>
      </p:pic>
      <p:pic>
        <p:nvPicPr>
          <p:cNvPr id="8" name="Image 2" descr="gen-dedup-2f13d9dbc9dfde9b9835286383cb790a.png"/>
          <p:cNvPicPr>
            <a:picLocks noChangeAspect="1"/>
          </p:cNvPicPr>
          <p:nvPr/>
        </p:nvPicPr>
        <p:blipFill>
          <a:blip r:embed="rId5"/>
          <a:srcRect t="-27" b="-27"/>
          <a:stretch/>
        </p:blipFill>
        <p:spPr>
          <a:xfrm>
            <a:off x="12191695" y="2952598"/>
            <a:ext cx="5143500" cy="857707"/>
          </a:xfrm>
          <a:prstGeom prst="rect">
            <a:avLst/>
          </a:prstGeom>
        </p:spPr>
      </p:pic>
      <p:pic>
        <p:nvPicPr>
          <p:cNvPr id="9" name="Image 3" descr="gen-dedup-704129f0ca36c8745d7788242aa1b9c7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· QUANTIFIED IMPACT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23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 · S · G — 모든 지표를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</a:t>
            </a:r>
            <a:endParaRPr lang="en-US" sz="4600" dirty="0"/>
          </a:p>
        </p:txBody>
      </p:sp>
      <p:sp>
        <p:nvSpPr>
          <p:cNvPr id="13" name="Text 7"/>
          <p:cNvSpPr txBox="1"/>
          <p:nvPr/>
        </p:nvSpPr>
        <p:spPr>
          <a:xfrm>
            <a:off x="952805" y="2048256"/>
            <a:ext cx="1428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활동 1회당 측정·검증·등재되는 대표 지표 예시. 모든 수치는 PADI AWARE Foundation 글로벌 DB에 기록.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333195" y="3219602"/>
            <a:ext cx="26791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3100" dirty="0"/>
          </a:p>
        </p:txBody>
      </p:sp>
      <p:sp>
        <p:nvSpPr>
          <p:cNvPr id="15" name="Text 9"/>
          <p:cNvSpPr txBox="1"/>
          <p:nvPr/>
        </p:nvSpPr>
        <p:spPr>
          <a:xfrm>
            <a:off x="1728216" y="3191256"/>
            <a:ext cx="12481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1728216" y="3343046"/>
            <a:ext cx="15965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정량 지표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1333195" y="5095951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333195" y="4315054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kg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1333195" y="4732934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폐플라스틱 수거량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1333195" y="6056986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333195" y="5276088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</a:t>
            </a:r>
            <a:endParaRPr lang="en-US" sz="310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5693969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폐어망 제거 건수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333195" y="7018020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333195" y="6237122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곳</a:t>
            </a:r>
            <a:endParaRPr lang="en-US" sz="3100" dirty="0"/>
          </a:p>
        </p:txBody>
      </p:sp>
      <p:sp>
        <p:nvSpPr>
          <p:cNvPr id="25" name="Text 19"/>
          <p:cNvSpPr txBox="1"/>
          <p:nvPr/>
        </p:nvSpPr>
        <p:spPr>
          <a:xfrm>
            <a:off x="1333195" y="6655003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핫스팟 정화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333195" y="7979969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333195" y="7198157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28" name="Text 22"/>
          <p:cNvSpPr txBox="1"/>
          <p:nvPr/>
        </p:nvSpPr>
        <p:spPr>
          <a:xfrm>
            <a:off x="1333195" y="761603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재활용 전환율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333195" y="8159191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1,800</a:t>
            </a:r>
            <a:r>
              <a:rPr lang="en-US" sz="13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kgCO₂e</a:t>
            </a:r>
            <a:endParaRPr lang="en-US" sz="3100" dirty="0"/>
          </a:p>
        </p:txBody>
      </p:sp>
      <p:sp>
        <p:nvSpPr>
          <p:cNvPr id="30" name="Text 24"/>
          <p:cNvSpPr txBox="1"/>
          <p:nvPr/>
        </p:nvSpPr>
        <p:spPr>
          <a:xfrm>
            <a:off x="1333195" y="8577986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순탄소 회피량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953098" y="3219602"/>
            <a:ext cx="267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3100" dirty="0"/>
          </a:p>
        </p:txBody>
      </p:sp>
      <p:sp>
        <p:nvSpPr>
          <p:cNvPr id="32" name="Text 26"/>
          <p:cNvSpPr txBox="1"/>
          <p:nvPr/>
        </p:nvSpPr>
        <p:spPr>
          <a:xfrm>
            <a:off x="7368235" y="3191256"/>
            <a:ext cx="12481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7368235" y="3343046"/>
            <a:ext cx="15965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 정량 지표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953098" y="5095951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953098" y="4315054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</a:t>
            </a:r>
            <a:endParaRPr lang="en-US" sz="3100" dirty="0"/>
          </a:p>
        </p:txBody>
      </p:sp>
      <p:sp>
        <p:nvSpPr>
          <p:cNvPr id="36" name="Text 30"/>
          <p:cNvSpPr txBox="1"/>
          <p:nvPr/>
        </p:nvSpPr>
        <p:spPr>
          <a:xfrm>
            <a:off x="6953098" y="4732934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누적 참여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953098" y="6056986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953098" y="5276088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3100" dirty="0"/>
          </a:p>
        </p:txBody>
      </p:sp>
      <p:sp>
        <p:nvSpPr>
          <p:cNvPr id="39" name="Text 33"/>
          <p:cNvSpPr txBox="1"/>
          <p:nvPr/>
        </p:nvSpPr>
        <p:spPr>
          <a:xfrm>
            <a:off x="6953098" y="5693969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봉사 시간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953098" y="7018020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953098" y="6237122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</a:t>
            </a:r>
            <a:endParaRPr lang="en-US" sz="3100" dirty="0"/>
          </a:p>
        </p:txBody>
      </p:sp>
      <p:sp>
        <p:nvSpPr>
          <p:cNvPr id="42" name="Text 36"/>
          <p:cNvSpPr txBox="1"/>
          <p:nvPr/>
        </p:nvSpPr>
        <p:spPr>
          <a:xfrm>
            <a:off x="6953098" y="6655003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 협력 단체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6953098" y="7979969"/>
            <a:ext cx="476219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953098" y="7198157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45" name="Text 39"/>
          <p:cNvSpPr txBox="1"/>
          <p:nvPr/>
        </p:nvSpPr>
        <p:spPr>
          <a:xfrm>
            <a:off x="6953098" y="761603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재참여율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6953098" y="8159191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</a:t>
            </a:r>
            <a:endParaRPr lang="en-US" sz="3100" dirty="0"/>
          </a:p>
        </p:txBody>
      </p:sp>
      <p:sp>
        <p:nvSpPr>
          <p:cNvPr id="47" name="Text 41"/>
          <p:cNvSpPr txBox="1"/>
          <p:nvPr/>
        </p:nvSpPr>
        <p:spPr>
          <a:xfrm>
            <a:off x="6953098" y="8577986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공공시각화 사례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12573000" y="3219602"/>
            <a:ext cx="3054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3100" dirty="0"/>
          </a:p>
        </p:txBody>
      </p:sp>
      <p:sp>
        <p:nvSpPr>
          <p:cNvPr id="49" name="Text 43"/>
          <p:cNvSpPr txBox="1"/>
          <p:nvPr/>
        </p:nvSpPr>
        <p:spPr>
          <a:xfrm>
            <a:off x="13024714" y="3343046"/>
            <a:ext cx="20400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거버넌스 정량 지표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3024714" y="3191256"/>
            <a:ext cx="16294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0A2540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12573000" y="5095951"/>
            <a:ext cx="4476902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2573000" y="4315054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</a:t>
            </a:r>
            <a:endParaRPr lang="en-US" sz="3100" dirty="0"/>
          </a:p>
        </p:txBody>
      </p:sp>
      <p:sp>
        <p:nvSpPr>
          <p:cNvPr id="53" name="Text 47"/>
          <p:cNvSpPr txBox="1"/>
          <p:nvPr/>
        </p:nvSpPr>
        <p:spPr>
          <a:xfrm>
            <a:off x="12573000" y="4732934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ESG위원회 정기 안건 채택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12573000" y="6056986"/>
            <a:ext cx="4476902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12573000" y="5276088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56" name="Text 50"/>
          <p:cNvSpPr txBox="1"/>
          <p:nvPr/>
        </p:nvSpPr>
        <p:spPr>
          <a:xfrm>
            <a:off x="12573000" y="5693969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품질 커버리지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12573000" y="7018020"/>
            <a:ext cx="4476902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2573000" y="6237122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59" name="Text 53"/>
          <p:cNvSpPr txBox="1"/>
          <p:nvPr/>
        </p:nvSpPr>
        <p:spPr>
          <a:xfrm>
            <a:off x="12573000" y="6655003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제3자(PADI) 검증 커버리지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12573000" y="7979969"/>
            <a:ext cx="4476902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12573000" y="7198157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62" name="Text 56"/>
          <p:cNvSpPr txBox="1"/>
          <p:nvPr/>
        </p:nvSpPr>
        <p:spPr>
          <a:xfrm>
            <a:off x="12573000" y="7616038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보험·안전 교육 이수율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12573000" y="8159191"/>
            <a:ext cx="4476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6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64" name="Text 58"/>
          <p:cNvSpPr txBox="1"/>
          <p:nvPr/>
        </p:nvSpPr>
        <p:spPr>
          <a:xfrm>
            <a:off x="12573000" y="8577986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정산 공개율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a69cbccb7d52f267aa387f4a57b99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4" name="Image 1" descr="gen-dedup-da01a4bea00977b06559ef47c283f39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5715000"/>
            <a:ext cx="8001000" cy="2476195"/>
          </a:xfrm>
          <a:prstGeom prst="roundRect">
            <a:avLst>
              <a:gd name="adj" fmla="val 1136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0C2D7">
                <a:alpha val="25000"/>
              </a:srgbClr>
            </a:solidFill>
            <a:prstDash val="solid"/>
          </a:ln>
        </p:spPr>
      </p:sp>
      <p:pic>
        <p:nvPicPr>
          <p:cNvPr id="7" name="Image 2" descr="gen-dedup-0db4049107ad6256715cdbbbc9de12d8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902" y="7715707"/>
            <a:ext cx="7429500" cy="9144"/>
          </a:xfrm>
          <a:prstGeom prst="rect">
            <a:avLst/>
          </a:prstGeom>
        </p:spPr>
      </p:pic>
      <p:pic>
        <p:nvPicPr>
          <p:cNvPr id="8" name="Image 3" descr="gen-dedup-704129f0ca36c8745d7788242aa1b9c7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6169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· EMPLOYEE VALUE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23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904695"/>
            <a:ext cx="8097012" cy="2343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46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평생 가는</a:t>
            </a:r>
            <a:endParaRPr lang="en-US" sz="5800" dirty="0"/>
          </a:p>
          <a:p>
            <a:pPr marL="0" indent="0" algn="l">
              <a:buNone/>
            </a:pPr>
            <a:r>
              <a:rPr lang="en-US" sz="5800" b="1" kern="0" spc="-146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</a:t>
            </a:r>
            <a:r>
              <a:rPr lang="en-US" sz="5800" b="1" kern="0" spc="-146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endParaRPr lang="en-US" sz="5800" dirty="0"/>
          </a:p>
          <a:p>
            <a:pPr marL="0" indent="0" algn="l">
              <a:buNone/>
            </a:pPr>
            <a:r>
              <a:rPr lang="en-US" sz="5800" b="1" kern="0" spc="-146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회사가 지원합니다. </a:t>
            </a:r>
            <a:endParaRPr lang="en-US" sz="5800" dirty="0"/>
          </a:p>
        </p:txBody>
      </p:sp>
      <p:sp>
        <p:nvSpPr>
          <p:cNvPr id="12" name="Text 6"/>
          <p:cNvSpPr txBox="1"/>
          <p:nvPr/>
        </p:nvSpPr>
        <p:spPr>
          <a:xfrm>
            <a:off x="1047902" y="5952744"/>
            <a:ext cx="7429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 부담 시 자격증 취득 비용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047902" y="6381598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Open Water (스쿠버)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1047902" y="7139635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기간 2~3일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047902" y="6562649"/>
            <a:ext cx="271393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60~90</a:t>
            </a:r>
            <a:r>
              <a:rPr lang="en-US" sz="1800" b="1" kern="0" spc="-48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만원</a:t>
            </a:r>
            <a:endParaRPr lang="en-US" sz="3600" dirty="0"/>
          </a:p>
        </p:txBody>
      </p:sp>
      <p:sp>
        <p:nvSpPr>
          <p:cNvPr id="16" name="Text 10"/>
          <p:cNvSpPr txBox="1"/>
          <p:nvPr/>
        </p:nvSpPr>
        <p:spPr>
          <a:xfrm>
            <a:off x="5048402" y="6381598"/>
            <a:ext cx="3620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Freediver Level 2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048402" y="7111289"/>
            <a:ext cx="3620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기간 2~3일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048402" y="6534302"/>
            <a:ext cx="271393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50~70</a:t>
            </a:r>
            <a:r>
              <a:rPr lang="en-US" sz="1800" b="1" kern="0" spc="-48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만원</a:t>
            </a:r>
            <a:endParaRPr lang="en-US" sz="3600" dirty="0"/>
          </a:p>
        </p:txBody>
      </p:sp>
      <p:sp>
        <p:nvSpPr>
          <p:cNvPr id="19" name="Text 13"/>
          <p:cNvSpPr txBox="1"/>
          <p:nvPr/>
        </p:nvSpPr>
        <p:spPr>
          <a:xfrm>
            <a:off x="1047902" y="7858354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MOBA에서는 </a:t>
            </a:r>
            <a:r>
              <a:rPr lang="en-US" sz="13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전액 회사 지원으로 무료 취득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8667598"/>
            <a:ext cx="90653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취득한 자격증은 평생 보유 · 전 세계 사용 가능. 해외 출장·휴가지 다이빙, 가족과의 새로운 취미, 개인 커리어 자산화까지.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9715500" y="8667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— NOT JUST VOLUNTEER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715500" y="8915400"/>
            <a:ext cx="7620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수거한 kg이 명확합니다."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969ef0570ea273cb296d4968eb573b5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2857500"/>
            <a:ext cx="8001000" cy="571500"/>
          </a:xfrm>
          <a:prstGeom prst="rect">
            <a:avLst/>
          </a:prstGeom>
        </p:spPr>
      </p:pic>
      <p:pic>
        <p:nvPicPr>
          <p:cNvPr id="4" name="Image 1" descr="gen-dedup-865e94f47f0b6a67384f9a67958446d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4195" y="2857500"/>
            <a:ext cx="80010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3429000"/>
            <a:ext cx="8001000" cy="1285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34195" y="3429000"/>
            <a:ext cx="8001000" cy="1285646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52805" y="4714646"/>
            <a:ext cx="8001000" cy="1285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34195" y="4714646"/>
            <a:ext cx="8001000" cy="1285646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52805" y="6001207"/>
            <a:ext cx="8001000" cy="1285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34195" y="6001207"/>
            <a:ext cx="8001000" cy="1285646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52805" y="7286854"/>
            <a:ext cx="8001000" cy="1285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34195" y="7286854"/>
            <a:ext cx="8001000" cy="1285646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52805" y="8906256"/>
            <a:ext cx="16383305" cy="905256"/>
          </a:xfrm>
          <a:prstGeom prst="roundRect">
            <a:avLst>
              <a:gd name="adj" fmla="val 8506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gen-dedup-704129f0ca36c8745d7788242aa1b9c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· EMPLOYEE VALUE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23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일반 봉사활동과의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결정적 차이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· 복지 · 봉사 · 커리어 — 한 번의 참여로 4중 가치를 동시에 얻습니다.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238098" y="3000146"/>
            <a:ext cx="7429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 회사 봉사활동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620402" y="3000146"/>
            <a:ext cx="7429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238098" y="3666744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TIME COMMITMENT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238098" y="3943807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1회성 행사 참여 — 끝나면 남는 것 없음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9620402" y="3666744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LIFETIME ASSET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20402" y="3943807"/>
            <a:ext cx="7429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평생 보유 가능한 </a:t>
            </a:r>
            <a:r>
              <a:rPr lang="en-US" sz="18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38098" y="4953305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NATURE OF ACTIVITY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238098" y="5229454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채우기식, 형식적 봉사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620402" y="4953305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PROFESSIONAL CLEANUP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9620402" y="5229454"/>
            <a:ext cx="7429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전문성 기반</a:t>
            </a: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수중 정화 활동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1238098" y="6238951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RECOGNITION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238098" y="6515100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봉사 시간만 인정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9620402" y="6238951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TRIPLE CREDIT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9620402" y="6515100"/>
            <a:ext cx="7429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봉사 + 자격 + </a:t>
            </a:r>
            <a:r>
              <a:rPr lang="en-US" sz="18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기여</a:t>
            </a: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인정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238098" y="7524598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IMPACT VISIBILITY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238098" y="7800746"/>
            <a:ext cx="7429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보람의 가시화 어려움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620402" y="7524598"/>
            <a:ext cx="7429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MEASURABLE OUTCOME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9620402" y="7800746"/>
            <a:ext cx="7429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수거한 </a:t>
            </a:r>
            <a:r>
              <a:rPr lang="en-US" sz="18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· 건</a:t>
            </a: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 명확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96451"/>
            <a:ext cx="15621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3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EMPLOYEE VOICE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333195" y="9334195"/>
            <a:ext cx="1562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"오늘 우리가 폐어망 20개를 제거해서 물고기들이 살 수 있게 되었다." — </a:t>
            </a:r>
            <a:r>
              <a:rPr lang="en-US" sz="1600" i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의무가 아닌 진정한 보람.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f04ef790e864a1355cdd5b1a7ce35f80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1238098" y="3238805"/>
            <a:ext cx="57607" cy="6286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5451" y="3191256"/>
            <a:ext cx="342900" cy="342900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5451" y="4334256"/>
            <a:ext cx="342900" cy="342900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5451" y="5667451"/>
            <a:ext cx="342900" cy="342900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5451" y="7000646"/>
            <a:ext cx="342900" cy="342900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5451" y="8429854"/>
            <a:ext cx="342900" cy="342900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pic>
        <p:nvPicPr>
          <p:cNvPr id="9" name="Image 1" descr="gen-dedup-704129f0ca36c8745d7788242aa1b9c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5 · HOW IT WORKS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23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현장 운영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하루의 표준 일정</a:t>
            </a:r>
            <a:endParaRPr lang="en-US" sz="46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반나절(6~8시간) 단위로 운영되는 1차 활동의 표준 진행. 모든 활동에 전문 다이브 인솔자 동행.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904695" y="3143707"/>
            <a:ext cx="1334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38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3524098" y="4058107"/>
            <a:ext cx="13811098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24098" y="3219602"/>
            <a:ext cx="13812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집결 · 최종 브리핑 · 장비 점검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24098" y="3600907"/>
            <a:ext cx="1381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해양 환경(수온·파고·조류·시정), 비상 연락망, 페어 배정, 수거 목표·역할 분담 확인.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904695" y="4286707"/>
            <a:ext cx="1334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38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1904695" y="4721962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12:00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24098" y="5201107"/>
            <a:ext cx="13811098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pic>
        <p:nvPicPr>
          <p:cNvPr id="21" name="Image 2" descr="gen-dedup-07eb3688da1b7b15a49a476615192972.png"/>
          <p:cNvPicPr>
            <a:picLocks noChangeAspect="1"/>
          </p:cNvPicPr>
          <p:nvPr/>
        </p:nvPicPr>
        <p:blipFill>
          <a:blip r:embed="rId5"/>
          <a:srcRect t="-192" b="-192"/>
          <a:stretch/>
        </p:blipFill>
        <p:spPr>
          <a:xfrm>
            <a:off x="3238805" y="4286707"/>
            <a:ext cx="75895" cy="90708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524098" y="4362602"/>
            <a:ext cx="13812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 정화 활동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892040" y="4438498"/>
            <a:ext cx="875995" cy="237744"/>
          </a:xfrm>
          <a:prstGeom prst="roundRect">
            <a:avLst>
              <a:gd name="adj" fmla="val 92308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92040" y="4438498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2H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524098" y="4743907"/>
            <a:ext cx="1381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2~3인 1조 페어 다이빙, 수심 2~10m. 폐어망·플라스틱·금속·유리·타이어 수거. 수중카메라 + GPS 자동 기록.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904695" y="5619902"/>
            <a:ext cx="1334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38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</a:t>
            </a:r>
            <a:endParaRPr lang="en-US" sz="3400" dirty="0"/>
          </a:p>
        </p:txBody>
      </p:sp>
      <p:sp>
        <p:nvSpPr>
          <p:cNvPr id="27" name="Text 22"/>
          <p:cNvSpPr txBox="1"/>
          <p:nvPr/>
        </p:nvSpPr>
        <p:spPr>
          <a:xfrm>
            <a:off x="1904695" y="6055157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13:00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524098" y="6534302"/>
            <a:ext cx="13811098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524098" y="5695798"/>
            <a:ext cx="13812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식사 · 디브리핑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3524098" y="6077102"/>
            <a:ext cx="1381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직후 안전 컨디션 점검, 페어별 소감 공유, 오후 분류 작업 일정 안내.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1904695" y="6953098"/>
            <a:ext cx="1334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38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13:00</a:t>
            </a:r>
            <a:endParaRPr lang="en-US" sz="3400" dirty="0"/>
          </a:p>
        </p:txBody>
      </p:sp>
      <p:sp>
        <p:nvSpPr>
          <p:cNvPr id="32" name="Text 27"/>
          <p:cNvSpPr txBox="1"/>
          <p:nvPr/>
        </p:nvSpPr>
        <p:spPr>
          <a:xfrm>
            <a:off x="1904695" y="7388352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14:30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524098" y="7867498"/>
            <a:ext cx="13811098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pic>
        <p:nvPicPr>
          <p:cNvPr id="34" name="Image 3" descr="gen-dedup-07eb3688da1b7b15a49a476615192972.png"/>
          <p:cNvPicPr>
            <a:picLocks noChangeAspect="1"/>
          </p:cNvPicPr>
          <p:nvPr/>
        </p:nvPicPr>
        <p:blipFill>
          <a:blip r:embed="rId5"/>
          <a:srcRect t="-192" b="-192"/>
          <a:stretch/>
        </p:blipFill>
        <p:spPr>
          <a:xfrm>
            <a:off x="3238805" y="6953098"/>
            <a:ext cx="75895" cy="90708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524098" y="7029907"/>
            <a:ext cx="13812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수거물 분류 · 계측 · 데이터 기록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6368796" y="7105802"/>
            <a:ext cx="819302" cy="237744"/>
          </a:xfrm>
          <a:prstGeom prst="roundRect">
            <a:avLst>
              <a:gd name="adj" fmla="val 92308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368796" y="7105802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핵심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3524098" y="7410298"/>
            <a:ext cx="1381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해변에서 종류별 분류 → 개수·무게 측정 → 표준 양식 기록 → 차후 Dive Against Debris® DB 업로드.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1904695" y="8382305"/>
            <a:ext cx="1334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-138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14:30</a:t>
            </a:r>
            <a:endParaRPr lang="en-US" sz="3400" dirty="0"/>
          </a:p>
        </p:txBody>
      </p:sp>
      <p:sp>
        <p:nvSpPr>
          <p:cNvPr id="40" name="Text 34"/>
          <p:cNvSpPr txBox="1"/>
          <p:nvPr/>
        </p:nvSpPr>
        <p:spPr>
          <a:xfrm>
            <a:off x="1904695" y="8817559"/>
            <a:ext cx="1334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15:00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3524098" y="8458200"/>
            <a:ext cx="138120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· 단체 사진 · 해산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3524098" y="8839505"/>
            <a:ext cx="1381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결과 공유, 우수 참여자 격려, 단체 기념 촬영. ESG 보고용 콘텐츠 1차 정리.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eceb59d6aa535a19d8bffec9ebac62c9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7429500"/>
            <a:ext cx="18288000" cy="2857500"/>
          </a:xfrm>
          <a:prstGeom prst="rect">
            <a:avLst/>
          </a:prstGeom>
        </p:spPr>
      </p:pic>
      <p:pic>
        <p:nvPicPr>
          <p:cNvPr id="4" name="Image 1" descr="gen-dedup-0d14c0206d82eb9e940001bb33a8a25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7429500"/>
            <a:ext cx="1828800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2805" y="2952598"/>
            <a:ext cx="4048049" cy="4381805"/>
          </a:xfrm>
          <a:prstGeom prst="roundRect">
            <a:avLst>
              <a:gd name="adj" fmla="val 42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333695" y="2952598"/>
            <a:ext cx="4048049" cy="4381805"/>
          </a:xfrm>
          <a:prstGeom prst="roundRect">
            <a:avLst>
              <a:gd name="adj" fmla="val 42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715500" y="2952598"/>
            <a:ext cx="4048049" cy="4381805"/>
          </a:xfrm>
          <a:prstGeom prst="roundRect">
            <a:avLst>
              <a:gd name="adj" fmla="val 425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4097305" y="2952598"/>
            <a:ext cx="3238805" cy="4381805"/>
          </a:xfrm>
          <a:prstGeom prst="roundRect">
            <a:avLst>
              <a:gd name="adj" fmla="val 664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pic>
        <p:nvPicPr>
          <p:cNvPr id="9" name="Image 2" descr="gen-dedup-f250972cef0098a1b9d94bfe9fa5ab36.png"/>
          <p:cNvPicPr>
            <a:picLocks noChangeAspect="1"/>
          </p:cNvPicPr>
          <p:nvPr/>
        </p:nvPicPr>
        <p:blipFill>
          <a:blip r:embed="rId5"/>
          <a:srcRect t="-28" b="-28"/>
          <a:stretch/>
        </p:blipFill>
        <p:spPr>
          <a:xfrm>
            <a:off x="952805" y="2952598"/>
            <a:ext cx="4048049" cy="857707"/>
          </a:xfrm>
          <a:prstGeom prst="rect">
            <a:avLst/>
          </a:prstGeom>
        </p:spPr>
      </p:pic>
      <p:pic>
        <p:nvPicPr>
          <p:cNvPr id="10" name="Image 3" descr="gen-dedup-72f622fe84df7ddf572084b32fbe3bda.png"/>
          <p:cNvPicPr>
            <a:picLocks noChangeAspect="1"/>
          </p:cNvPicPr>
          <p:nvPr/>
        </p:nvPicPr>
        <p:blipFill>
          <a:blip r:embed="rId6"/>
          <a:srcRect t="-28" b="-28"/>
          <a:stretch/>
        </p:blipFill>
        <p:spPr>
          <a:xfrm>
            <a:off x="5333695" y="2952598"/>
            <a:ext cx="4048049" cy="857707"/>
          </a:xfrm>
          <a:prstGeom prst="rect">
            <a:avLst/>
          </a:prstGeom>
        </p:spPr>
      </p:pic>
      <p:pic>
        <p:nvPicPr>
          <p:cNvPr id="11" name="Image 4" descr="gen-dedup-f250972cef0098a1b9d94bfe9fa5ab36.png"/>
          <p:cNvPicPr>
            <a:picLocks noChangeAspect="1"/>
          </p:cNvPicPr>
          <p:nvPr/>
        </p:nvPicPr>
        <p:blipFill>
          <a:blip r:embed="rId5"/>
          <a:srcRect t="-28" b="-28"/>
          <a:stretch/>
        </p:blipFill>
        <p:spPr>
          <a:xfrm>
            <a:off x="9715500" y="2952598"/>
            <a:ext cx="4048049" cy="857707"/>
          </a:xfrm>
          <a:prstGeom prst="rect">
            <a:avLst/>
          </a:prstGeom>
        </p:spPr>
      </p:pic>
      <p:pic>
        <p:nvPicPr>
          <p:cNvPr id="12" name="Image 5" descr="gen-dedup-17d500824090c1eee625ba800704cabb.png"/>
          <p:cNvPicPr>
            <a:picLocks noChangeAspect="1"/>
          </p:cNvPicPr>
          <p:nvPr/>
        </p:nvPicPr>
        <p:blipFill>
          <a:blip r:embed="rId7"/>
          <a:srcRect t="-22" b="-22"/>
          <a:stretch/>
        </p:blipFill>
        <p:spPr>
          <a:xfrm>
            <a:off x="14097305" y="2952598"/>
            <a:ext cx="3238805" cy="857707"/>
          </a:xfrm>
          <a:prstGeom prst="rect">
            <a:avLst/>
          </a:prstGeom>
        </p:spPr>
      </p:pic>
      <p:pic>
        <p:nvPicPr>
          <p:cNvPr id="13" name="Image 6" descr="gen-dedup-704129f0ca36c8745d7788242aa1b9c7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952805" y="8762695"/>
            <a:ext cx="16383305" cy="952805"/>
          </a:xfrm>
          <a:prstGeom prst="roundRect">
            <a:avLst>
              <a:gd name="adj" fmla="val 76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5" name="Text 6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5 · ANNUAL SCHEDULE</a:t>
            </a:r>
            <a:endParaRPr lang="en-US" sz="900" dirty="0"/>
          </a:p>
        </p:txBody>
      </p:sp>
      <p:sp>
        <p:nvSpPr>
          <p:cNvPr id="16" name="Text 7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23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 4회, 분기 단위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로테이션</a:t>
            </a:r>
            <a:endParaRPr lang="en-US" sz="4600" dirty="0"/>
          </a:p>
        </p:txBody>
      </p:sp>
      <p:sp>
        <p:nvSpPr>
          <p:cNvPr id="18" name="Text 9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서해 제외 (수심·시정). 남해 · 동해 · 제주권에서 계절에 맞춰 운영.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1238098" y="3143707"/>
            <a:ext cx="619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3600" dirty="0"/>
          </a:p>
        </p:txBody>
      </p:sp>
      <p:sp>
        <p:nvSpPr>
          <p:cNvPr id="20" name="Text 11"/>
          <p:cNvSpPr txBox="1"/>
          <p:nvPr/>
        </p:nvSpPr>
        <p:spPr>
          <a:xfrm>
            <a:off x="1238098" y="3596335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4193438" y="3472891"/>
            <a:ext cx="6062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남해권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238098" y="4048049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LOCATIONS</a:t>
            </a:r>
            <a:endParaRPr lang="en-US" sz="900" dirty="0"/>
          </a:p>
        </p:txBody>
      </p:sp>
      <p:sp>
        <p:nvSpPr>
          <p:cNvPr id="23" name="Text 14"/>
          <p:cNvSpPr txBox="1"/>
          <p:nvPr/>
        </p:nvSpPr>
        <p:spPr>
          <a:xfrm>
            <a:off x="1238098" y="4286707"/>
            <a:ext cx="34774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거제 · 통영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여수 · 부산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1238098" y="5086807"/>
            <a:ext cx="3476549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1238098" y="5266944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238098" y="5505602"/>
            <a:ext cx="34774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세미드라이/드라이슈트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어민 합동 가능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5619902" y="3143707"/>
            <a:ext cx="9720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3600" dirty="0"/>
          </a:p>
        </p:txBody>
      </p:sp>
      <p:sp>
        <p:nvSpPr>
          <p:cNvPr id="28" name="Text 19"/>
          <p:cNvSpPr txBox="1"/>
          <p:nvPr/>
        </p:nvSpPr>
        <p:spPr>
          <a:xfrm>
            <a:off x="5619902" y="3596335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~ JUN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8575243" y="3472891"/>
            <a:ext cx="60624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동해권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5619902" y="4048049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LOCATIONS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5619902" y="4286707"/>
            <a:ext cx="34774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강릉 · 속초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동해 · 포항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619902" y="5086807"/>
            <a:ext cx="3476549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5619902" y="5266944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5619902" y="5505602"/>
            <a:ext cx="34774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바다의 날 정부 캠페인 연계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 동반 추천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10001707" y="3143707"/>
            <a:ext cx="12481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3600" dirty="0"/>
          </a:p>
        </p:txBody>
      </p:sp>
      <p:sp>
        <p:nvSpPr>
          <p:cNvPr id="36" name="Text 27"/>
          <p:cNvSpPr txBox="1"/>
          <p:nvPr/>
        </p:nvSpPr>
        <p:spPr>
          <a:xfrm>
            <a:off x="10001707" y="3596335"/>
            <a:ext cx="1248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★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2623292" y="3501238"/>
            <a:ext cx="117043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 / 남해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10001707" y="4048049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LOCATIONS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10001707" y="4286707"/>
            <a:ext cx="34774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 · 부산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거제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10001707" y="5086807"/>
            <a:ext cx="3476549" cy="9144"/>
          </a:xfrm>
          <a:prstGeom prst="rect">
            <a:avLst/>
          </a:prstGeom>
          <a:solidFill>
            <a:srgbClr val="042540">
              <a:alpha val="25000"/>
            </a:srgbClr>
          </a:solidFill>
          <a:ln w="12700">
            <a:solidFill>
              <a:srgbClr val="042540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10001707" y="5266944"/>
            <a:ext cx="3477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CAMPAIGN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10001707" y="5505602"/>
            <a:ext cx="34774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ICC Day · AWARE Week 연계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홍보 최적기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4382598" y="3143707"/>
            <a:ext cx="952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endParaRPr lang="en-US" sz="3600" dirty="0"/>
          </a:p>
        </p:txBody>
      </p:sp>
      <p:sp>
        <p:nvSpPr>
          <p:cNvPr id="44" name="Text 35"/>
          <p:cNvSpPr txBox="1"/>
          <p:nvPr/>
        </p:nvSpPr>
        <p:spPr>
          <a:xfrm>
            <a:off x="14382598" y="3596335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16525037" y="3501238"/>
            <a:ext cx="6547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동·남해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14382598" y="4048049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14382598" y="4286707"/>
            <a:ext cx="2667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동해 · 속초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통영 · 여수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14382598" y="5086807"/>
            <a:ext cx="2667305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4382598" y="5266944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14382598" y="5505602"/>
            <a:ext cx="2667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해 결산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봉사자 포상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952805" y="7715707"/>
            <a:ext cx="1638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EXCLUSION ZONE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952805" y="7962595"/>
            <a:ext cx="16383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서해는 제외</a:t>
            </a:r>
            <a:r>
              <a:rPr lang="en-US" sz="15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수심이 얕고 시정(視程)이 좋지 않아 수중 정화에 적합하지 않음. 안전과 데이터 품질을 위한 의도적 선택. </a:t>
            </a:r>
            <a:endParaRPr lang="en-US" sz="1500" dirty="0"/>
          </a:p>
        </p:txBody>
      </p:sp>
      <p:sp>
        <p:nvSpPr>
          <p:cNvPr id="53" name="Text 44"/>
          <p:cNvSpPr txBox="1"/>
          <p:nvPr/>
        </p:nvSpPr>
        <p:spPr>
          <a:xfrm>
            <a:off x="1333195" y="9009583"/>
            <a:ext cx="7001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POLICY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1333195" y="9238183"/>
            <a:ext cx="8897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악천후 시 — </a:t>
            </a:r>
            <a:r>
              <a:rPr lang="en-US" sz="15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성과보다 안전</a:t>
            </a: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우선. 풍속·파고·시정·수온 기준 미달 시 주저 없이 일정 조정.</a:t>
            </a:r>
            <a:endParaRPr lang="en-US" sz="1500" dirty="0"/>
          </a:p>
        </p:txBody>
      </p:sp>
      <p:sp>
        <p:nvSpPr>
          <p:cNvPr id="55" name="Text 46"/>
          <p:cNvSpPr txBox="1"/>
          <p:nvPr/>
        </p:nvSpPr>
        <p:spPr>
          <a:xfrm>
            <a:off x="15590520" y="8953805"/>
            <a:ext cx="136977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kern="0" spc="-138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800" b="1" kern="0" spc="-138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400" dirty="0"/>
          </a:p>
        </p:txBody>
      </p:sp>
      <p:sp>
        <p:nvSpPr>
          <p:cNvPr id="56" name="Text 47"/>
          <p:cNvSpPr txBox="1"/>
          <p:nvPr/>
        </p:nvSpPr>
        <p:spPr>
          <a:xfrm>
            <a:off x="15940735" y="9389059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무사고 목표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e702a3e91851902ee4bd98a878017b13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952805" y="3476549"/>
            <a:ext cx="9525305" cy="1285646"/>
          </a:xfrm>
          <a:prstGeom prst="rect">
            <a:avLst/>
          </a:prstGeom>
        </p:spPr>
      </p:pic>
      <p:pic>
        <p:nvPicPr>
          <p:cNvPr id="4" name="Image 1" descr="gen-dedup-e702a3e91851902ee4bd98a878017b13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952805" y="4858207"/>
            <a:ext cx="9525305" cy="1285646"/>
          </a:xfrm>
          <a:prstGeom prst="rect">
            <a:avLst/>
          </a:prstGeom>
        </p:spPr>
      </p:pic>
      <p:pic>
        <p:nvPicPr>
          <p:cNvPr id="5" name="Image 2" descr="gen-dedup-e702a3e91851902ee4bd98a878017b13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952805" y="6238951"/>
            <a:ext cx="9525305" cy="1285646"/>
          </a:xfrm>
          <a:prstGeom prst="rect">
            <a:avLst/>
          </a:prstGeom>
        </p:spPr>
      </p:pic>
      <p:pic>
        <p:nvPicPr>
          <p:cNvPr id="6" name="Image 3" descr="gen-dedup-e702a3e91851902ee4bd98a878017b13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952805" y="7619695"/>
            <a:ext cx="9525305" cy="128564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0858500" y="3047695"/>
            <a:ext cx="6476695" cy="3143707"/>
          </a:xfrm>
          <a:prstGeom prst="roundRect">
            <a:avLst>
              <a:gd name="adj" fmla="val 705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0858500" y="6381598"/>
            <a:ext cx="6476695" cy="2523744"/>
          </a:xfrm>
          <a:prstGeom prst="roundRect">
            <a:avLst>
              <a:gd name="adj" fmla="val 1094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4" descr="gen-dedup-704129f0ca36c8745d7788242aa1b9c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6 · SAFETY &amp; COMPLIANCE</a:t>
            </a:r>
            <a:endParaRPr lang="en-US" sz="900" dirty="0"/>
          </a:p>
        </p:txBody>
      </p:sp>
      <p:sp>
        <p:nvSpPr>
          <p:cNvPr id="11" name="Text 4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23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안전이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 가치</a:t>
            </a: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4600" dirty="0"/>
          </a:p>
        </p:txBody>
      </p:sp>
      <p:sp>
        <p:nvSpPr>
          <p:cNvPr id="13" name="Text 6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다층 안전 시스템 + 다중 보험 가입 + 법규 준수 — 의사결정자가 묻는 모든 리스크 질문에 대한 답.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952805" y="3047695"/>
            <a:ext cx="9525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4-STAGE SAFETY SYSTEM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238098" y="3666744"/>
            <a:ext cx="857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800" dirty="0"/>
          </a:p>
        </p:txBody>
      </p:sp>
      <p:sp>
        <p:nvSpPr>
          <p:cNvPr id="16" name="Text 9"/>
          <p:cNvSpPr txBox="1"/>
          <p:nvPr/>
        </p:nvSpPr>
        <p:spPr>
          <a:xfrm>
            <a:off x="1238098" y="3838651"/>
            <a:ext cx="857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2324405" y="3791102"/>
            <a:ext cx="8555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체크리스트 기반 장비·건강·해양 환경 점검. 활동 직전 안전 브리핑(수온·파고·조류·시정·페어 다이빙 원칙·비상연락망).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1238098" y="5048402"/>
            <a:ext cx="857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02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1238098" y="5219395"/>
            <a:ext cx="857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중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2324405" y="5171846"/>
            <a:ext cx="7868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 다이빙(혼자 잠수 절대 금지). 전문 인솔자 배치. 수면 지원선·부이 운영. 수심 2~10m 안전 범위 엄수.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238098" y="6429146"/>
            <a:ext cx="857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03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1238098" y="6601054"/>
            <a:ext cx="10241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 대응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2324405" y="6553505"/>
            <a:ext cx="7868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응급구조 자격 스태프 현장 배치. 인근 병원 긴급 연락체계 사전 확인. 해경 사전 통보 및 비상 협력 체계.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7810805"/>
            <a:ext cx="8577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04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1238098" y="7981798"/>
            <a:ext cx="857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사후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2324405" y="7934249"/>
            <a:ext cx="7868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디브리핑 · 사고·이상 징후 보고 · 차기 활동 개선 반영. PDCA 사이클로 안전 시스템 지속 개선.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1239805" y="3333902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INSURANCE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239805" y="3619195"/>
            <a:ext cx="5715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보험 가입 (의무)</a:t>
            </a:r>
            <a:endParaRPr lang="en-US" sz="2100" dirty="0"/>
          </a:p>
        </p:txBody>
      </p:sp>
      <p:sp>
        <p:nvSpPr>
          <p:cNvPr id="29" name="Shape 22"/>
          <p:cNvSpPr/>
          <p:nvPr/>
        </p:nvSpPr>
        <p:spPr>
          <a:xfrm>
            <a:off x="11239805" y="4623206"/>
            <a:ext cx="5715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1239805" y="4308653"/>
            <a:ext cx="9656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행사 상해보험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16269919" y="4308653"/>
            <a:ext cx="844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참가자 전원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11239805" y="5062118"/>
            <a:ext cx="5715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1239805" y="4747565"/>
            <a:ext cx="2289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다이빙 특약 / DAN Europe 보험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16269919" y="4747565"/>
            <a:ext cx="844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다이버 전원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1239805" y="5500116"/>
            <a:ext cx="5715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1239805" y="5185562"/>
            <a:ext cx="11704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영업배상책임보험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16564356" y="5185562"/>
            <a:ext cx="453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1239805" y="5623560"/>
            <a:ext cx="13313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임원배상책임(D&amp;O)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6694201" y="5623560"/>
            <a:ext cx="3035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11239805" y="6620256"/>
            <a:ext cx="5715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COMPLIANCE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239805" y="6886346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법규·행정 준수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11239805" y="7292340"/>
            <a:ext cx="1076249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1239805" y="7292340"/>
            <a:ext cx="10771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수상레저안전법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12388291" y="7292340"/>
            <a:ext cx="857707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12388291" y="7292340"/>
            <a:ext cx="857707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수중레저법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3312750" y="7292340"/>
            <a:ext cx="1076249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3312750" y="7292340"/>
            <a:ext cx="10771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해양환경관리법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14461236" y="7292340"/>
            <a:ext cx="961949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14461236" y="7292340"/>
            <a:ext cx="96286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폐기물관리법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15497251" y="7292340"/>
            <a:ext cx="886054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15497251" y="7292340"/>
            <a:ext cx="886054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 협조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11239805" y="7721194"/>
            <a:ext cx="771754" cy="352044"/>
          </a:xfrm>
          <a:prstGeom prst="roundRect">
            <a:avLst>
              <a:gd name="adj" fmla="val 259740"/>
            </a:avLst>
          </a:prstGeom>
          <a:solidFill>
            <a:srgbClr val="FFFFFF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1239805" y="7721194"/>
            <a:ext cx="771754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해경 협조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11239805" y="8206740"/>
            <a:ext cx="5715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통보 · 장소 허가 · 폐기물 인계 · 비상 시 협력 체계 모두 사전 확보.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952805" y="9144000"/>
            <a:ext cx="1638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데이터·초상권·저작권은 표준 동의서로 사전 수합. ESG 보고·대외 공표 목적 사용 명시.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16383305" cy="3238805"/>
          </a:xfrm>
          <a:prstGeom prst="roundRect">
            <a:avLst>
              <a:gd name="adj" fmla="val 664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c739c3f9f6f3bc4100d909932a1e4d3c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952805" y="7048195"/>
            <a:ext cx="3952951" cy="2762402"/>
          </a:xfrm>
          <a:prstGeom prst="rect">
            <a:avLst/>
          </a:prstGeom>
        </p:spPr>
      </p:pic>
      <p:pic>
        <p:nvPicPr>
          <p:cNvPr id="5" name="Image 1" descr="gen-dedup-c739c3f9f6f3bc4100d909932a1e4d3c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5095951" y="7048195"/>
            <a:ext cx="3952951" cy="2762402"/>
          </a:xfrm>
          <a:prstGeom prst="rect">
            <a:avLst/>
          </a:prstGeom>
        </p:spPr>
      </p:pic>
      <p:pic>
        <p:nvPicPr>
          <p:cNvPr id="6" name="Image 2" descr="gen-dedup-c739c3f9f6f3bc4100d909932a1e4d3c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9239098" y="7048195"/>
            <a:ext cx="3952951" cy="2762402"/>
          </a:xfrm>
          <a:prstGeom prst="rect">
            <a:avLst/>
          </a:prstGeom>
        </p:spPr>
      </p:pic>
      <p:pic>
        <p:nvPicPr>
          <p:cNvPr id="7" name="Image 3" descr="gen-dedup-c739c3f9f6f3bc4100d909932a1e4d3c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3382244" y="7048195"/>
            <a:ext cx="3952951" cy="2762402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4287500" y="2667305"/>
            <a:ext cx="3810305" cy="3810305"/>
          </a:xfrm>
          <a:prstGeom prst="ellipse">
            <a:avLst/>
          </a:prstGeom>
          <a:noFill/>
          <a:ln w="12700">
            <a:solidFill>
              <a:srgbClr val="00C2D7">
                <a:alpha val="15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5049195" y="3429000"/>
            <a:ext cx="2286000" cy="2286000"/>
          </a:xfrm>
          <a:prstGeom prst="ellipse">
            <a:avLst/>
          </a:prstGeom>
          <a:noFill/>
          <a:ln w="12700">
            <a:solidFill>
              <a:srgbClr val="00C2D7">
                <a:alpha val="25000"/>
              </a:srgbClr>
            </a:solidFill>
            <a:prstDash val="solid"/>
          </a:ln>
        </p:spPr>
      </p:sp>
      <p:pic>
        <p:nvPicPr>
          <p:cNvPr id="10" name="Image 4" descr="gen-dedup-704129f0ca36c8745d7788242aa1b9c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16097098" y="3238805"/>
            <a:ext cx="1047902" cy="1047902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5" descr="gen-dedup-5500b17f39c72a4bdca3c085a019aadd.jpg"/>
          <p:cNvPicPr>
            <a:picLocks noChangeAspect="1"/>
          </p:cNvPicPr>
          <p:nvPr/>
        </p:nvPicPr>
        <p:blipFill>
          <a:blip r:embed="rId5"/>
          <a:srcRect l="12500" r="12500"/>
          <a:stretch/>
        </p:blipFill>
        <p:spPr>
          <a:xfrm>
            <a:off x="16173907" y="3314700"/>
            <a:ext cx="895198" cy="895198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7 · INTERNATIONAL PARTNERS</a:t>
            </a:r>
            <a:endParaRPr lang="en-US" sz="900" dirty="0"/>
          </a:p>
        </p:txBody>
      </p:sp>
      <p:sp>
        <p:nvSpPr>
          <p:cNvPr id="14" name="Text 6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23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MOBA의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파트너십</a:t>
            </a:r>
            <a:endParaRPr lang="en-US" sz="4600" dirty="0"/>
          </a:p>
        </p:txBody>
      </p:sp>
      <p:sp>
        <p:nvSpPr>
          <p:cNvPr id="16" name="Text 8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검증이 아닌 — 글로벌 NGO의 공식 데이터 등재를 통해 신뢰도를 확보합니다.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333195" y="3286354"/>
            <a:ext cx="8572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GLOBAL PARTNER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1333195" y="3610051"/>
            <a:ext cx="85725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PADI AWARE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Foundation </a:t>
            </a:r>
            <a:endParaRPr lang="en-US" sz="4000" dirty="0"/>
          </a:p>
        </p:txBody>
      </p:sp>
      <p:sp>
        <p:nvSpPr>
          <p:cNvPr id="19" name="Text 11"/>
          <p:cNvSpPr txBox="1"/>
          <p:nvPr/>
        </p:nvSpPr>
        <p:spPr>
          <a:xfrm>
            <a:off x="1333195" y="4969764"/>
            <a:ext cx="8572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세계 최대 스쿠버 다이빙 교육기관 </a:t>
            </a:r>
            <a:r>
              <a:rPr lang="en-US" sz="1200" b="1" kern="0" spc="-12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</a:t>
            </a:r>
            <a:r>
              <a:rPr lang="en-US" sz="1200" kern="0" spc="-12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후원하는 독립 비영리 재단.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kern="0" spc="-12" dirty="0">
                <a:solidFill>
                  <a:srgbClr val="6FE0E7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UNEP 등 국제기구와 협력</a:t>
            </a:r>
            <a:r>
              <a:rPr lang="en-US" sz="1200" kern="0" spc="-12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하며 정책 · 시민과학 · 커뮤니티 행동 영역에서 글로벌 리더십을 발휘. 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0477195" y="3619195"/>
            <a:ext cx="2572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2100" b="1" kern="0" spc="-19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4800" dirty="0"/>
          </a:p>
        </p:txBody>
      </p:sp>
      <p:sp>
        <p:nvSpPr>
          <p:cNvPr id="21" name="Text 13"/>
          <p:cNvSpPr txBox="1"/>
          <p:nvPr/>
        </p:nvSpPr>
        <p:spPr>
          <a:xfrm>
            <a:off x="10477195" y="4236415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개국 다이버 커뮤니티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3239598" y="3619195"/>
            <a:ext cx="2572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2011</a:t>
            </a:r>
            <a:r>
              <a:rPr lang="en-US" sz="1800" b="1" kern="0" spc="-19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</a:t>
            </a:r>
            <a:endParaRPr lang="en-US" sz="4800" dirty="0"/>
          </a:p>
        </p:txBody>
      </p:sp>
      <p:sp>
        <p:nvSpPr>
          <p:cNvPr id="23" name="Text 15"/>
          <p:cNvSpPr txBox="1"/>
          <p:nvPr/>
        </p:nvSpPr>
        <p:spPr>
          <a:xfrm>
            <a:off x="13239598" y="4236415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Dive Against Debris® 운영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0477195" y="4608576"/>
            <a:ext cx="2572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세계 최대</a:t>
            </a:r>
            <a:endParaRPr lang="en-US" sz="3600" dirty="0"/>
          </a:p>
        </p:txBody>
      </p:sp>
      <p:sp>
        <p:nvSpPr>
          <p:cNvPr id="25" name="Text 17"/>
          <p:cNvSpPr txBox="1"/>
          <p:nvPr/>
        </p:nvSpPr>
        <p:spPr>
          <a:xfrm>
            <a:off x="10477195" y="5118811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수중 정화 시민과학 프로그램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3239598" y="4608576"/>
            <a:ext cx="2572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3600" dirty="0"/>
          </a:p>
        </p:txBody>
      </p:sp>
      <p:sp>
        <p:nvSpPr>
          <p:cNvPr id="27" name="Text 19"/>
          <p:cNvSpPr txBox="1"/>
          <p:nvPr/>
        </p:nvSpPr>
        <p:spPr>
          <a:xfrm>
            <a:off x="13239598" y="5118811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국제기구 정책 자료 활용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952805" y="6572707"/>
            <a:ext cx="1638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 × PADI AWARE FOUNDATION — 4 PILLARS OF COLLABORATION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238098" y="7286854"/>
            <a:ext cx="3381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9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100" dirty="0"/>
          </a:p>
        </p:txBody>
      </p:sp>
      <p:sp>
        <p:nvSpPr>
          <p:cNvPr id="30" name="Text 22"/>
          <p:cNvSpPr txBox="1"/>
          <p:nvPr/>
        </p:nvSpPr>
        <p:spPr>
          <a:xfrm>
            <a:off x="1238098" y="7819949"/>
            <a:ext cx="33814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프로그램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등록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238098" y="8467344"/>
            <a:ext cx="33814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MOBA를 Marine Debris Program으로 공식 등록. 모든 데이터·활동이 국제 DB에 등재.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5381244" y="7286854"/>
            <a:ext cx="3381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9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100" dirty="0"/>
          </a:p>
        </p:txBody>
      </p:sp>
      <p:sp>
        <p:nvSpPr>
          <p:cNvPr id="33" name="Text 25"/>
          <p:cNvSpPr txBox="1"/>
          <p:nvPr/>
        </p:nvSpPr>
        <p:spPr>
          <a:xfrm>
            <a:off x="5381244" y="7819949"/>
            <a:ext cx="33814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브랜드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인증서 발급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381244" y="8467344"/>
            <a:ext cx="33814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기업에 PADI AWARE Foundation 공동 명의 인증서 + 감사 서한 수여.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525305" y="7286854"/>
            <a:ext cx="3381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9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100" dirty="0"/>
          </a:p>
        </p:txBody>
      </p:sp>
      <p:sp>
        <p:nvSpPr>
          <p:cNvPr id="36" name="Text 28"/>
          <p:cNvSpPr txBox="1"/>
          <p:nvPr/>
        </p:nvSpPr>
        <p:spPr>
          <a:xfrm>
            <a:off x="9525305" y="7819949"/>
            <a:ext cx="33814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자격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인증카드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9525305" y="8467344"/>
            <a:ext cx="33814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수료 직원에게 PADI AWARE 공식 인증카드 발급. 국제 환경보전 활동 증명.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13668451" y="7286854"/>
            <a:ext cx="33814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9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100" dirty="0"/>
          </a:p>
        </p:txBody>
      </p:sp>
      <p:sp>
        <p:nvSpPr>
          <p:cNvPr id="39" name="Text 31"/>
          <p:cNvSpPr txBox="1"/>
          <p:nvPr/>
        </p:nvSpPr>
        <p:spPr>
          <a:xfrm>
            <a:off x="13668451" y="7819949"/>
            <a:ext cx="33814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무대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네트워킹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3668451" y="8467344"/>
            <a:ext cx="33814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ICC Day · AWARE Week · Our Ocean Conference · UN Ocean Conference 참여 기회.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5429707" cy="2190902"/>
          </a:xfrm>
          <a:prstGeom prst="roundRect">
            <a:avLst>
              <a:gd name="adj" fmla="val 1452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707" y="2952598"/>
            <a:ext cx="5429707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1695" y="2952598"/>
            <a:ext cx="5143500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805" y="5333695"/>
            <a:ext cx="5429707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72707" y="5333695"/>
            <a:ext cx="5429707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1695" y="5333695"/>
            <a:ext cx="5143500" cy="2190902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7905902"/>
            <a:ext cx="16383305" cy="1809598"/>
          </a:xfrm>
          <a:prstGeom prst="roundRect">
            <a:avLst>
              <a:gd name="adj" fmla="val 2128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45486c5c155a3225e26a6dadd05cc9b0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952805" y="2952598"/>
            <a:ext cx="57607" cy="2190902"/>
          </a:xfrm>
          <a:prstGeom prst="rect">
            <a:avLst/>
          </a:prstGeom>
        </p:spPr>
      </p:pic>
      <p:pic>
        <p:nvPicPr>
          <p:cNvPr id="11" name="Image 1" descr="gen-dedup-063296e8d147b8c8b0028a7ffaa2788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6572707" y="2952598"/>
            <a:ext cx="57607" cy="2190902"/>
          </a:xfrm>
          <a:prstGeom prst="rect">
            <a:avLst/>
          </a:prstGeom>
        </p:spPr>
      </p:pic>
      <p:pic>
        <p:nvPicPr>
          <p:cNvPr id="12" name="Image 2" descr="gen-dedup-063296e8d147b8c8b0028a7ffaa2788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2191695" y="2952598"/>
            <a:ext cx="57607" cy="2190902"/>
          </a:xfrm>
          <a:prstGeom prst="rect">
            <a:avLst/>
          </a:prstGeom>
        </p:spPr>
      </p:pic>
      <p:pic>
        <p:nvPicPr>
          <p:cNvPr id="13" name="Image 3" descr="gen-dedup-063296e8d147b8c8b0028a7ffaa2788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952805" y="5333695"/>
            <a:ext cx="57607" cy="2190902"/>
          </a:xfrm>
          <a:prstGeom prst="rect">
            <a:avLst/>
          </a:prstGeom>
        </p:spPr>
      </p:pic>
      <p:pic>
        <p:nvPicPr>
          <p:cNvPr id="14" name="Image 4" descr="gen-dedup-063296e8d147b8c8b0028a7ffaa2788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6572707" y="5333695"/>
            <a:ext cx="57607" cy="2190902"/>
          </a:xfrm>
          <a:prstGeom prst="rect">
            <a:avLst/>
          </a:prstGeom>
        </p:spPr>
      </p:pic>
      <p:pic>
        <p:nvPicPr>
          <p:cNvPr id="15" name="Image 5" descr="gen-dedup-063296e8d147b8c8b0028a7ffaa2788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2191695" y="5333695"/>
            <a:ext cx="57607" cy="2190902"/>
          </a:xfrm>
          <a:prstGeom prst="rect">
            <a:avLst/>
          </a:prstGeom>
        </p:spPr>
      </p:pic>
      <p:pic>
        <p:nvPicPr>
          <p:cNvPr id="16" name="Image 6" descr="gen-dedup-704129f0ca36c8745d7788242aa1b9c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17" name="Image 7" descr="gen-dedup-f421096b4a8b90deea2ac154b1ccf6c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44707" y="3143707"/>
            <a:ext cx="743407" cy="743407"/>
          </a:xfrm>
          <a:prstGeom prst="rect">
            <a:avLst/>
          </a:prstGeom>
        </p:spPr>
      </p:pic>
      <p:pic>
        <p:nvPicPr>
          <p:cNvPr id="18" name="Image 8" descr="gen-dedup-557a34ac96690a27962c88aef6af18dc.png"/>
          <p:cNvPicPr>
            <a:picLocks noChangeAspect="1"/>
          </p:cNvPicPr>
          <p:nvPr/>
        </p:nvPicPr>
        <p:blipFill>
          <a:blip r:embed="rId7"/>
          <a:srcRect l="3955" r="3955"/>
          <a:stretch/>
        </p:blipFill>
        <p:spPr>
          <a:xfrm>
            <a:off x="16478402" y="3143707"/>
            <a:ext cx="743407" cy="743407"/>
          </a:xfrm>
          <a:prstGeom prst="rect">
            <a:avLst/>
          </a:prstGeom>
        </p:spPr>
      </p:pic>
      <p:pic>
        <p:nvPicPr>
          <p:cNvPr id="19" name="Image 9" descr="gen-dedup-557a34ac96690a27962c88aef6af18dc.png"/>
          <p:cNvPicPr>
            <a:picLocks noChangeAspect="1"/>
          </p:cNvPicPr>
          <p:nvPr/>
        </p:nvPicPr>
        <p:blipFill>
          <a:blip r:embed="rId7"/>
          <a:srcRect l="3955" r="3955"/>
          <a:stretch/>
        </p:blipFill>
        <p:spPr>
          <a:xfrm>
            <a:off x="5524805" y="5524805"/>
            <a:ext cx="743407" cy="743407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7 · ESG STANDARDS MAPPING</a:t>
            </a:r>
            <a:endParaRPr lang="en-US" sz="900" dirty="0"/>
          </a:p>
        </p:txBody>
      </p:sp>
      <p:sp>
        <p:nvSpPr>
          <p:cNvPr id="21" name="Text 9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23</a:t>
            </a:r>
            <a:endParaRPr lang="en-US" sz="900" dirty="0"/>
          </a:p>
        </p:txBody>
      </p:sp>
      <p:sp>
        <p:nvSpPr>
          <p:cNvPr id="22" name="Text 10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국제 표준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매핑</a:t>
            </a: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되는 6가지 프레임워크 </a:t>
            </a:r>
            <a:endParaRPr lang="en-US" sz="4600" dirty="0"/>
          </a:p>
        </p:txBody>
      </p:sp>
      <p:sp>
        <p:nvSpPr>
          <p:cNvPr id="23" name="Text 11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기업이 별도 매핑 작업을 할 필요가 없습니다. MOBA가 보고서에 그대로 인용 가능한 형태로 산출.</a:t>
            </a:r>
            <a:endParaRPr lang="en-US" sz="1500" dirty="0"/>
          </a:p>
        </p:txBody>
      </p:sp>
      <p:sp>
        <p:nvSpPr>
          <p:cNvPr id="24" name="Text 12"/>
          <p:cNvSpPr txBox="1"/>
          <p:nvPr/>
        </p:nvSpPr>
        <p:spPr>
          <a:xfrm>
            <a:off x="1333195" y="3238805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NATIONS</a:t>
            </a:r>
            <a:endParaRPr lang="en-US" sz="900" dirty="0"/>
          </a:p>
        </p:txBody>
      </p:sp>
      <p:sp>
        <p:nvSpPr>
          <p:cNvPr id="25" name="Text 13"/>
          <p:cNvSpPr txBox="1"/>
          <p:nvPr/>
        </p:nvSpPr>
        <p:spPr>
          <a:xfrm>
            <a:off x="1333195" y="3457346"/>
            <a:ext cx="13816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SDG 14</a:t>
            </a:r>
            <a:endParaRPr lang="en-US" sz="2400" dirty="0"/>
          </a:p>
        </p:txBody>
      </p:sp>
      <p:sp>
        <p:nvSpPr>
          <p:cNvPr id="26" name="Text 14"/>
          <p:cNvSpPr txBox="1"/>
          <p:nvPr/>
        </p:nvSpPr>
        <p:spPr>
          <a:xfrm>
            <a:off x="1333195" y="4019702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해양생태계 보전</a:t>
            </a:r>
            <a:endParaRPr lang="en-US" sz="1200" dirty="0"/>
          </a:p>
        </p:txBody>
      </p:sp>
      <p:sp>
        <p:nvSpPr>
          <p:cNvPr id="27" name="Text 15"/>
          <p:cNvSpPr txBox="1"/>
          <p:nvPr/>
        </p:nvSpPr>
        <p:spPr>
          <a:xfrm>
            <a:off x="1333195" y="4324198"/>
            <a:ext cx="4763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-12" dirty="0">
                <a:solidFill>
                  <a:srgbClr val="6FE0E7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SDG 14.1</a:t>
            </a: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(육상 활동 등으로부터의 해양오염 방지·상당한 감소) 이행 지원 · 포스트-2025 지속 대응. 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5410505" y="3238805"/>
            <a:ext cx="810158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2" dirty="0">
                <a:solidFill>
                  <a:srgbClr val="00C2D7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4800" dirty="0"/>
          </a:p>
        </p:txBody>
      </p:sp>
      <p:sp>
        <p:nvSpPr>
          <p:cNvPr id="29" name="Text 17"/>
          <p:cNvSpPr txBox="1"/>
          <p:nvPr/>
        </p:nvSpPr>
        <p:spPr>
          <a:xfrm>
            <a:off x="6953098" y="3238805"/>
            <a:ext cx="4096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REPORTING INITIATIVE</a:t>
            </a:r>
            <a:endParaRPr lang="en-US" sz="900" dirty="0"/>
          </a:p>
        </p:txBody>
      </p:sp>
      <p:sp>
        <p:nvSpPr>
          <p:cNvPr id="30" name="Text 18"/>
          <p:cNvSpPr txBox="1"/>
          <p:nvPr/>
        </p:nvSpPr>
        <p:spPr>
          <a:xfrm>
            <a:off x="6953098" y="3457346"/>
            <a:ext cx="40965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306</a:t>
            </a:r>
            <a:endParaRPr lang="en-US" sz="2400" dirty="0"/>
          </a:p>
        </p:txBody>
      </p:sp>
      <p:sp>
        <p:nvSpPr>
          <p:cNvPr id="31" name="Text 19"/>
          <p:cNvSpPr txBox="1"/>
          <p:nvPr/>
        </p:nvSpPr>
        <p:spPr>
          <a:xfrm>
            <a:off x="6953098" y="400050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폐기물 관리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6953098" y="4304995"/>
            <a:ext cx="40965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306-3, 306-4 폐기물 발생·처리. + GRI 304-3 복원된 서식지, 413-1 지역사회.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12573000" y="3238805"/>
            <a:ext cx="3810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STANDARD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12573000" y="3457346"/>
            <a:ext cx="3810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 14001</a:t>
            </a:r>
            <a:endParaRPr lang="en-US" sz="2400" dirty="0"/>
          </a:p>
        </p:txBody>
      </p:sp>
      <p:sp>
        <p:nvSpPr>
          <p:cNvPr id="35" name="Text 23"/>
          <p:cNvSpPr txBox="1"/>
          <p:nvPr/>
        </p:nvSpPr>
        <p:spPr>
          <a:xfrm>
            <a:off x="12573000" y="4000500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환경경영시스템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2573000" y="4304995"/>
            <a:ext cx="43799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방침·목표 달성의 구체적 사례. 인증 심사·갱신 시 환경 성과 증빙.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1333195" y="5619902"/>
            <a:ext cx="4096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STANDARD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1333195" y="5838444"/>
            <a:ext cx="40965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 26000</a:t>
            </a:r>
            <a:endParaRPr lang="en-US" sz="2400" dirty="0"/>
          </a:p>
        </p:txBody>
      </p:sp>
      <p:sp>
        <p:nvSpPr>
          <p:cNvPr id="39" name="Text 27"/>
          <p:cNvSpPr txBox="1"/>
          <p:nvPr/>
        </p:nvSpPr>
        <p:spPr>
          <a:xfrm>
            <a:off x="1333195" y="6381598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사회적 책임 지침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1333195" y="6687007"/>
            <a:ext cx="47320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7대 핵심 주제(거버넌스·인권·노동·환경·공정운영·소비자·지역사회) 모두 매핑.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6953098" y="5619902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DISCLOSURE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6953098" y="5838444"/>
            <a:ext cx="210860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ISSB · CSRD</a:t>
            </a:r>
            <a:endParaRPr lang="en-US" sz="2400" dirty="0"/>
          </a:p>
        </p:txBody>
      </p:sp>
      <p:sp>
        <p:nvSpPr>
          <p:cNvPr id="43" name="Text 31"/>
          <p:cNvSpPr txBox="1"/>
          <p:nvPr/>
        </p:nvSpPr>
        <p:spPr>
          <a:xfrm>
            <a:off x="6953098" y="6381598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IFRS S1·S2 · EU 공시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953098" y="6687007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ISSB IFRS S1·S2, EU CSRD, SEC 기후공시의 검증 가능성 요건에 부합·지원.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2573000" y="5619902"/>
            <a:ext cx="1714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NATURE DISCLOSURE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12573000" y="5838444"/>
            <a:ext cx="194492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TNFD · CDP</a:t>
            </a:r>
            <a:endParaRPr lang="en-US" sz="2400" dirty="0"/>
          </a:p>
        </p:txBody>
      </p:sp>
      <p:sp>
        <p:nvSpPr>
          <p:cNvPr id="47" name="Text 35"/>
          <p:cNvSpPr txBox="1"/>
          <p:nvPr/>
        </p:nvSpPr>
        <p:spPr>
          <a:xfrm>
            <a:off x="12573000" y="6381598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 자본 · 탄소공시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12573000" y="6687007"/>
            <a:ext cx="4476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TNFD 해양 자연 자본 공시 자료, CDP 폐기물 처리 항목 자료 제공.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1333195" y="8143646"/>
            <a:ext cx="42848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ESG RATING AGENCIES — DATA READY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14765731" y="8148218"/>
            <a:ext cx="235915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35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AGENCIES · 100% COVERAGE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1333195" y="8449056"/>
            <a:ext cx="29910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1333195" y="8449056"/>
            <a:ext cx="2991002" cy="28346"/>
          </a:xfrm>
          <a:prstGeom prst="roundRect">
            <a:avLst>
              <a:gd name="adj" fmla="val 420763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1533449" y="8680399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DJSI</a:t>
            </a:r>
            <a:endParaRPr lang="en-US" sz="1500" dirty="0"/>
          </a:p>
        </p:txBody>
      </p:sp>
      <p:sp>
        <p:nvSpPr>
          <p:cNvPr id="54" name="Text 42"/>
          <p:cNvSpPr txBox="1"/>
          <p:nvPr/>
        </p:nvSpPr>
        <p:spPr>
          <a:xfrm>
            <a:off x="1533449" y="8946490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다우존스 지속가능경영지수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4491533" y="8449056"/>
            <a:ext cx="29910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4491533" y="8449056"/>
            <a:ext cx="2991002" cy="28346"/>
          </a:xfrm>
          <a:prstGeom prst="roundRect">
            <a:avLst>
              <a:gd name="adj" fmla="val 420763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4691786" y="8680399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MSCI ESG</a:t>
            </a:r>
            <a:endParaRPr lang="en-US" sz="1500" dirty="0"/>
          </a:p>
        </p:txBody>
      </p:sp>
      <p:sp>
        <p:nvSpPr>
          <p:cNvPr id="58" name="Text 46"/>
          <p:cNvSpPr txBox="1"/>
          <p:nvPr/>
        </p:nvSpPr>
        <p:spPr>
          <a:xfrm>
            <a:off x="4691786" y="8946490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환경(E) 부문 가점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7650785" y="8449056"/>
            <a:ext cx="29910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650785" y="8449056"/>
            <a:ext cx="2991002" cy="28346"/>
          </a:xfrm>
          <a:prstGeom prst="roundRect">
            <a:avLst>
              <a:gd name="adj" fmla="val 420763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61" name="Text 49"/>
          <p:cNvSpPr txBox="1"/>
          <p:nvPr/>
        </p:nvSpPr>
        <p:spPr>
          <a:xfrm>
            <a:off x="7850124" y="8680399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Sustainalytics</a:t>
            </a:r>
            <a:endParaRPr lang="en-US" sz="1500" dirty="0"/>
          </a:p>
        </p:txBody>
      </p:sp>
      <p:sp>
        <p:nvSpPr>
          <p:cNvPr id="62" name="Text 50"/>
          <p:cNvSpPr txBox="1"/>
          <p:nvPr/>
        </p:nvSpPr>
        <p:spPr>
          <a:xfrm>
            <a:off x="7850124" y="8946490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점수 개선</a:t>
            </a:r>
            <a:endParaRPr lang="en-US" sz="900" dirty="0"/>
          </a:p>
        </p:txBody>
      </p:sp>
      <p:sp>
        <p:nvSpPr>
          <p:cNvPr id="63" name="Shape 51"/>
          <p:cNvSpPr/>
          <p:nvPr/>
        </p:nvSpPr>
        <p:spPr>
          <a:xfrm>
            <a:off x="10809122" y="8449056"/>
            <a:ext cx="29910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10809122" y="8449056"/>
            <a:ext cx="2991002" cy="28346"/>
          </a:xfrm>
          <a:prstGeom prst="roundRect">
            <a:avLst>
              <a:gd name="adj" fmla="val 420763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11009376" y="8680399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KCGS</a:t>
            </a:r>
            <a:endParaRPr lang="en-US" sz="1500" dirty="0"/>
          </a:p>
        </p:txBody>
      </p:sp>
      <p:sp>
        <p:nvSpPr>
          <p:cNvPr id="66" name="Text 54"/>
          <p:cNvSpPr txBox="1"/>
          <p:nvPr/>
        </p:nvSpPr>
        <p:spPr>
          <a:xfrm>
            <a:off x="11009376" y="8946490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한국ESG기준원 E·S·G 가점</a:t>
            </a:r>
            <a:endParaRPr lang="en-US" sz="900" dirty="0"/>
          </a:p>
        </p:txBody>
      </p:sp>
      <p:sp>
        <p:nvSpPr>
          <p:cNvPr id="67" name="Shape 55"/>
          <p:cNvSpPr/>
          <p:nvPr/>
        </p:nvSpPr>
        <p:spPr>
          <a:xfrm>
            <a:off x="13967460" y="8449056"/>
            <a:ext cx="2991002" cy="875995"/>
          </a:xfrm>
          <a:prstGeom prst="roundRect">
            <a:avLst>
              <a:gd name="adj" fmla="val 1361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68" name="Shape 56"/>
          <p:cNvSpPr/>
          <p:nvPr/>
        </p:nvSpPr>
        <p:spPr>
          <a:xfrm>
            <a:off x="13967460" y="8449056"/>
            <a:ext cx="2991002" cy="28346"/>
          </a:xfrm>
          <a:prstGeom prst="roundRect">
            <a:avLst>
              <a:gd name="adj" fmla="val 420763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14167714" y="8680399"/>
            <a:ext cx="2591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CDP</a:t>
            </a:r>
            <a:endParaRPr lang="en-US" sz="1500" dirty="0"/>
          </a:p>
        </p:txBody>
      </p:sp>
      <p:sp>
        <p:nvSpPr>
          <p:cNvPr id="70" name="Text 58"/>
          <p:cNvSpPr txBox="1"/>
          <p:nvPr/>
        </p:nvSpPr>
        <p:spPr>
          <a:xfrm>
            <a:off x="14167714" y="8946490"/>
            <a:ext cx="2591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Carbon Disclosure Project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5905195"/>
            <a:ext cx="10763402" cy="1619402"/>
          </a:xfrm>
          <a:prstGeom prst="roundRect">
            <a:avLst>
              <a:gd name="adj" fmla="val 3986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0" y="3238805"/>
            <a:ext cx="53336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1500" y="3238805"/>
            <a:ext cx="5333695" cy="28346"/>
          </a:xfrm>
          <a:prstGeom prst="roundRect">
            <a:avLst>
              <a:gd name="adj" fmla="val 286742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0" y="4667098"/>
            <a:ext cx="5333695" cy="1285646"/>
          </a:xfrm>
          <a:prstGeom prst="roundRect">
            <a:avLst>
              <a:gd name="adj" fmla="val 632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0" y="4667098"/>
            <a:ext cx="5333695" cy="28346"/>
          </a:xfrm>
          <a:prstGeom prst="roundRect">
            <a:avLst>
              <a:gd name="adj" fmla="val 286742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0" y="6096305"/>
            <a:ext cx="5333695" cy="1429207"/>
          </a:xfrm>
          <a:prstGeom prst="roundRect">
            <a:avLst>
              <a:gd name="adj" fmla="val 5118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7858354"/>
            <a:ext cx="16383305" cy="1857146"/>
          </a:xfrm>
          <a:prstGeom prst="roundRect">
            <a:avLst>
              <a:gd name="adj" fmla="val 3030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0c6f3f1fd2020bc411fed8350dd3c7b4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333195" y="4200754"/>
            <a:ext cx="10287000" cy="384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81451" y="4028846"/>
            <a:ext cx="418795" cy="418795"/>
          </a:xfrm>
          <a:prstGeom prst="ellipse">
            <a:avLst/>
          </a:prstGeom>
          <a:solidFill>
            <a:srgbClr val="FF6A4D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704129f0ca36c8745d7788242aa1b9c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71600" y="4095598"/>
            <a:ext cx="247802" cy="247802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7FA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67405" y="4095598"/>
            <a:ext cx="247802" cy="247802"/>
          </a:xfrm>
          <a:prstGeom prst="ellipse">
            <a:avLst/>
          </a:prstGeom>
          <a:solidFill>
            <a:srgbClr val="FF6A4D"/>
          </a:solidFill>
          <a:ln w="38100">
            <a:solidFill>
              <a:srgbClr val="F7FA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62295" y="4095598"/>
            <a:ext cx="247802" cy="247802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7FA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58100" y="4095598"/>
            <a:ext cx="247802" cy="247802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7FA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753905" y="4095598"/>
            <a:ext cx="247802" cy="247802"/>
          </a:xfrm>
          <a:prstGeom prst="ellipse">
            <a:avLst/>
          </a:prstGeom>
          <a:solidFill>
            <a:srgbClr val="1E5EA8"/>
          </a:solidFill>
          <a:ln w="38100">
            <a:solidFill>
              <a:srgbClr val="F7FAF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52805" y="666598"/>
            <a:ext cx="8572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8 · KOREA ESG DISCLOSURE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23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52805" y="1095451"/>
            <a:ext cx="1638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한국 ESG 공시 의무화 — </a:t>
            </a:r>
            <a:r>
              <a:rPr lang="en-US" sz="4500" b="1" kern="0" spc="-1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2028년이 D-Day</a:t>
            </a:r>
            <a:r>
              <a:rPr lang="en-US" sz="4500" b="1" kern="0" spc="-1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 </a:t>
            </a:r>
            <a:endParaRPr lang="en-US" sz="45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2018995"/>
            <a:ext cx="1638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금융위 단계적 의무화 로드맵(2026.2.25 발표) · KSSB 공시기준 최종 확정(2026.2.26) — 시점이 가까워지고 있습니다.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952805" y="2809951"/>
            <a:ext cx="10763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DISCLOSURE TIMELINE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714146" y="3429000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714146" y="3771900"/>
            <a:ext cx="1714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3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FY25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476402" y="461954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지배구조보고서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76402" y="4844491"/>
            <a:ext cx="2095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코스피 全상장사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(이미 시행)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2734056" y="3419856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96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2028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2734056" y="376275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3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FY27 데이터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313786" y="3172054"/>
            <a:ext cx="562356" cy="171907"/>
          </a:xfrm>
          <a:prstGeom prst="roundRect">
            <a:avLst>
              <a:gd name="adj" fmla="val 177305"/>
            </a:avLst>
          </a:prstGeom>
          <a:solidFill>
            <a:srgbClr val="FF6A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313786" y="3172054"/>
            <a:ext cx="562356" cy="18653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88900" tIns="25400" rIns="88900" bIns="25400" rtlCol="0" anchor="ctr"/>
          <a:lstStyle/>
          <a:p>
            <a:pPr marL="0" indent="0" algn="ctr">
              <a:buNone/>
            </a:pPr>
            <a:r>
              <a:rPr lang="en-US" sz="800" b="1" kern="0" spc="11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D-DAY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2542946" y="461954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연결자산 30조 원 이상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2542946" y="4844491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FF6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58개사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2542946" y="5063033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지속가능성 공시 첫 의무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905756" y="3429000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2029</a:t>
            </a:r>
            <a:endParaRPr lang="en-US" sz="2400" dirty="0"/>
          </a:p>
        </p:txBody>
      </p:sp>
      <p:sp>
        <p:nvSpPr>
          <p:cNvPr id="35" name="Text 31"/>
          <p:cNvSpPr txBox="1"/>
          <p:nvPr/>
        </p:nvSpPr>
        <p:spPr>
          <a:xfrm>
            <a:off x="4905756" y="3771900"/>
            <a:ext cx="1714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3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FY28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4638751" y="461954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10조 원 이상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4638751" y="4844491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확대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6734556" y="3429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2030~33</a:t>
            </a:r>
            <a:endParaRPr lang="en-US" sz="2400" dirty="0"/>
          </a:p>
        </p:txBody>
      </p:sp>
      <p:sp>
        <p:nvSpPr>
          <p:cNvPr id="39" name="Text 35"/>
          <p:cNvSpPr txBox="1"/>
          <p:nvPr/>
        </p:nvSpPr>
        <p:spPr>
          <a:xfrm>
            <a:off x="6734556" y="3771900"/>
            <a:ext cx="2095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3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FY29~32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6734556" y="461954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2조 원 → 全코스피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6734556" y="4844491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단계적 확대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9096451" y="3429000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9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2031</a:t>
            </a:r>
            <a:endParaRPr lang="en-US" sz="2400" dirty="0"/>
          </a:p>
        </p:txBody>
      </p:sp>
      <p:sp>
        <p:nvSpPr>
          <p:cNvPr id="43" name="Text 39"/>
          <p:cNvSpPr txBox="1"/>
          <p:nvPr/>
        </p:nvSpPr>
        <p:spPr>
          <a:xfrm>
            <a:off x="9096451" y="3771900"/>
            <a:ext cx="1714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3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FY30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8829446" y="4619549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 3 공시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8829446" y="4844491"/>
            <a:ext cx="2095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가치사슬 온실가스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(3년 유예 후 적용)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1333195" y="616305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12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2700" dirty="0"/>
          </a:p>
        </p:txBody>
      </p:sp>
      <p:sp>
        <p:nvSpPr>
          <p:cNvPr id="47" name="Text 43"/>
          <p:cNvSpPr txBox="1"/>
          <p:nvPr/>
        </p:nvSpPr>
        <p:spPr>
          <a:xfrm>
            <a:off x="1865376" y="6143854"/>
            <a:ext cx="9477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FF6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— DATA COLLECTION DEADLINE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1865376" y="6381598"/>
            <a:ext cx="94777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2028년 첫 공시를 위해 </a:t>
            </a:r>
            <a:r>
              <a:rPr lang="en-US" sz="15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FY27(2027 회계연도)</a:t>
            </a:r>
            <a:r>
              <a:rPr lang="en-US" sz="15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데이터 필수.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말까지 데이터 수집 체계를 완비하지 못하면 첫 공시 보고서 작성 자체가 불가능합니다. 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12001500" y="2809951"/>
            <a:ext cx="5334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KSSB STANDARDS — 2026.2.26 FINALIZED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12287707" y="3429000"/>
            <a:ext cx="12280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KSSB 제1호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16470173" y="3481121"/>
            <a:ext cx="580644" cy="200254"/>
          </a:xfrm>
          <a:prstGeom prst="roundRect">
            <a:avLst>
              <a:gd name="adj" fmla="val 130463"/>
            </a:avLst>
          </a:prstGeom>
          <a:solidFill>
            <a:srgbClr val="1E5E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6470172" y="3481120"/>
            <a:ext cx="738535" cy="28163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의무공시</a:t>
            </a:r>
            <a:endParaRPr lang="en-US" sz="800" dirty="0"/>
          </a:p>
        </p:txBody>
      </p:sp>
      <p:sp>
        <p:nvSpPr>
          <p:cNvPr id="53" name="Text 49"/>
          <p:cNvSpPr txBox="1"/>
          <p:nvPr/>
        </p:nvSpPr>
        <p:spPr>
          <a:xfrm>
            <a:off x="12287707" y="381030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지속가능성 관련 재무정보 일반 요구사항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12287707" y="4067251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↳ IFRS S1 반영</a:t>
            </a:r>
            <a:endParaRPr lang="en-US" sz="800" dirty="0"/>
          </a:p>
        </p:txBody>
      </p:sp>
      <p:sp>
        <p:nvSpPr>
          <p:cNvPr id="55" name="Text 51"/>
          <p:cNvSpPr txBox="1"/>
          <p:nvPr/>
        </p:nvSpPr>
        <p:spPr>
          <a:xfrm>
            <a:off x="12287707" y="4858207"/>
            <a:ext cx="122986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KSSB 제2호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16470173" y="4910328"/>
            <a:ext cx="580644" cy="200254"/>
          </a:xfrm>
          <a:prstGeom prst="roundRect">
            <a:avLst>
              <a:gd name="adj" fmla="val 130463"/>
            </a:avLst>
          </a:prstGeom>
          <a:solidFill>
            <a:srgbClr val="1E5E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6470172" y="4910328"/>
            <a:ext cx="712317" cy="2331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의무공시</a:t>
            </a:r>
            <a:endParaRPr lang="en-US" sz="800" dirty="0"/>
          </a:p>
        </p:txBody>
      </p:sp>
      <p:sp>
        <p:nvSpPr>
          <p:cNvPr id="58" name="Text 54"/>
          <p:cNvSpPr txBox="1"/>
          <p:nvPr/>
        </p:nvSpPr>
        <p:spPr>
          <a:xfrm>
            <a:off x="12287707" y="5238598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기후 관련 공시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12287707" y="5495544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↳ IFRS S2 토대</a:t>
            </a:r>
            <a:endParaRPr lang="en-US" sz="800" dirty="0"/>
          </a:p>
        </p:txBody>
      </p:sp>
      <p:sp>
        <p:nvSpPr>
          <p:cNvPr id="60" name="Text 56"/>
          <p:cNvSpPr txBox="1"/>
          <p:nvPr/>
        </p:nvSpPr>
        <p:spPr>
          <a:xfrm>
            <a:off x="12287707" y="6286500"/>
            <a:ext cx="14950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KSSB 제101호</a:t>
            </a:r>
            <a:endParaRPr lang="en-US" sz="1600" dirty="0"/>
          </a:p>
        </p:txBody>
      </p:sp>
      <p:sp>
        <p:nvSpPr>
          <p:cNvPr id="61" name="Shape 57"/>
          <p:cNvSpPr/>
          <p:nvPr/>
        </p:nvSpPr>
        <p:spPr>
          <a:xfrm>
            <a:off x="16269919" y="6338621"/>
            <a:ext cx="780898" cy="200254"/>
          </a:xfrm>
          <a:prstGeom prst="roundRect">
            <a:avLst>
              <a:gd name="adj" fmla="val 1304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6269919" y="6338621"/>
            <a:ext cx="912570" cy="1856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 핵심</a:t>
            </a:r>
            <a:endParaRPr lang="en-US" sz="800" dirty="0"/>
          </a:p>
        </p:txBody>
      </p:sp>
      <p:sp>
        <p:nvSpPr>
          <p:cNvPr id="63" name="Text 59"/>
          <p:cNvSpPr txBox="1"/>
          <p:nvPr/>
        </p:nvSpPr>
        <p:spPr>
          <a:xfrm>
            <a:off x="12287707" y="666780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선택적 추가 공시 — 기후 외 환경 사항 · 내부탄소가격 · 산업별 지표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12287707" y="6924751"/>
            <a:ext cx="4763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0A2540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↳ 글로벌 평가기관이 핵심 평가 요소로 가중치 부여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1333195" y="8143646"/>
            <a:ext cx="1562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ANNOUNCEMENT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1333195" y="8524951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금융위원회 발표</a:t>
            </a:r>
            <a:endParaRPr lang="en-US" sz="1000" dirty="0"/>
          </a:p>
        </p:txBody>
      </p:sp>
      <p:sp>
        <p:nvSpPr>
          <p:cNvPr id="67" name="Text 63"/>
          <p:cNvSpPr txBox="1"/>
          <p:nvPr/>
        </p:nvSpPr>
        <p:spPr>
          <a:xfrm>
            <a:off x="1333195" y="8772754"/>
            <a:ext cx="7620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2월 25일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제4차 생산적금융 대전환 회의</a:t>
            </a:r>
            <a:endParaRPr lang="en-US" sz="1300" dirty="0"/>
          </a:p>
        </p:txBody>
      </p:sp>
      <p:sp>
        <p:nvSpPr>
          <p:cNvPr id="68" name="Text 64"/>
          <p:cNvSpPr txBox="1"/>
          <p:nvPr/>
        </p:nvSpPr>
        <p:spPr>
          <a:xfrm>
            <a:off x="9239098" y="8524951"/>
            <a:ext cx="7620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KSSB 공시기준 최종 확정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9239098" y="8772754"/>
            <a:ext cx="7620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2월 26일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한국회계기준원 산하 지속가능성기준위원회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3323844"/>
            <a:ext cx="79059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8707" y="3323844"/>
            <a:ext cx="571500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30207" y="3323844"/>
            <a:ext cx="7905902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805" y="4181551"/>
            <a:ext cx="79059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8707" y="4181551"/>
            <a:ext cx="571500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0207" y="4181551"/>
            <a:ext cx="7905902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5" y="5038344"/>
            <a:ext cx="79059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8707" y="5038344"/>
            <a:ext cx="571500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0207" y="5038344"/>
            <a:ext cx="7905902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805" y="5896051"/>
            <a:ext cx="7905902" cy="8577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8707" y="5896051"/>
            <a:ext cx="571500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0207" y="5896051"/>
            <a:ext cx="7905902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00C2D7"/>
            </a:solidFill>
            <a:prstDash val="solid"/>
          </a:ln>
        </p:spPr>
      </p:sp>
      <p:pic>
        <p:nvPicPr>
          <p:cNvPr id="15" name="Image 0" descr="gen-dedup-68a0a24644840f42b3c27266d982d966.png"/>
          <p:cNvPicPr>
            <a:picLocks noChangeAspect="1"/>
          </p:cNvPicPr>
          <p:nvPr/>
        </p:nvPicPr>
        <p:blipFill>
          <a:blip r:embed="rId3"/>
          <a:srcRect t="-26" b="-26"/>
          <a:stretch/>
        </p:blipFill>
        <p:spPr>
          <a:xfrm>
            <a:off x="952805" y="6752844"/>
            <a:ext cx="7905902" cy="85770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858707" y="6752844"/>
            <a:ext cx="571500" cy="857707"/>
          </a:xfrm>
          <a:prstGeom prst="rect">
            <a:avLst/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gen-dedup-d90e5eb74e5662f5b15846ccb731a1ff.png"/>
          <p:cNvPicPr>
            <a:picLocks noChangeAspect="1"/>
          </p:cNvPicPr>
          <p:nvPr/>
        </p:nvPicPr>
        <p:blipFill>
          <a:blip r:embed="rId4"/>
          <a:srcRect t="-26" b="-26"/>
          <a:stretch/>
        </p:blipFill>
        <p:spPr>
          <a:xfrm>
            <a:off x="9430207" y="6752844"/>
            <a:ext cx="7905902" cy="857707"/>
          </a:xfrm>
          <a:prstGeom prst="rect">
            <a:avLst/>
          </a:prstGeom>
        </p:spPr>
      </p:pic>
      <p:pic>
        <p:nvPicPr>
          <p:cNvPr id="18" name="Image 2" descr="gen-dedup-02715e4f6ebef359ccd2d36f8a308fb9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952805" y="2809951"/>
            <a:ext cx="7905902" cy="514807"/>
          </a:xfrm>
          <a:prstGeom prst="rect">
            <a:avLst/>
          </a:prstGeom>
        </p:spPr>
      </p:pic>
      <p:pic>
        <p:nvPicPr>
          <p:cNvPr id="19" name="Image 3" descr="gen-dedup-a596f3c6dfcba71728210c2ba1d59859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9430207" y="2809951"/>
            <a:ext cx="7905902" cy="51480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858707" y="2809951"/>
            <a:ext cx="571500" cy="514807"/>
          </a:xfrm>
          <a:prstGeom prst="rect">
            <a:avLst/>
          </a:prstGeom>
          <a:solidFill>
            <a:srgbClr val="1E5E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gen-dedup-704129f0ca36c8745d7788242aa1b9c7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1620195" y="7858354"/>
            <a:ext cx="5715000" cy="1619402"/>
          </a:xfrm>
          <a:prstGeom prst="roundRect">
            <a:avLst>
              <a:gd name="adj" fmla="val 3986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52805" y="666598"/>
            <a:ext cx="8572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8 · MOBA FILLS THE GAP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23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952805" y="1095451"/>
            <a:ext cx="1638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MOBA가 채우는 </a:t>
            </a:r>
            <a:r>
              <a:rPr lang="en-US" sz="4500" b="1" kern="0" spc="-1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"공시 데이터 갭"</a:t>
            </a:r>
            <a:endParaRPr lang="en-US" sz="4500" dirty="0"/>
          </a:p>
        </p:txBody>
      </p:sp>
      <p:sp>
        <p:nvSpPr>
          <p:cNvPr id="26" name="Text 19"/>
          <p:cNvSpPr txBox="1"/>
          <p:nvPr/>
        </p:nvSpPr>
        <p:spPr>
          <a:xfrm>
            <a:off x="952805" y="2018995"/>
            <a:ext cx="1638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공시에서 가장 어려운 부분은 정량 데이터의 수집·검증·제3자 확인 — MOBA가 5가지 공시 항목에 그대로 매핑되는 데이터를 제공합니다.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238098" y="2971800"/>
            <a:ext cx="7429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공시 요구 항목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8858707" y="2971800"/>
            <a:ext cx="571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9715500" y="2971800"/>
            <a:ext cx="7429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MOBA가 제공하는 데이터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238098" y="3524098"/>
            <a:ext cx="7334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폐기물 발생·처리·재활용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238098" y="3800246"/>
            <a:ext cx="7334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 306 · KSSB 제101호 환경 지표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858707" y="361919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715500" y="3619195"/>
            <a:ext cx="7334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수거량(kg) · 품목 · 재활용 전환율 정량 데이터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238098" y="4381805"/>
            <a:ext cx="7334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 자본 (Natural Capital)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1238098" y="4657039"/>
            <a:ext cx="7334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TNFD 매핑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858707" y="4476902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715500" y="4476902"/>
            <a:ext cx="7334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해양 자연 자본 영향 · 복원 GPS 좌표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238098" y="5238598"/>
            <a:ext cx="7334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· 지역사회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238098" y="5514746"/>
            <a:ext cx="7334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 413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8858707" y="533369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9715500" y="5333695"/>
            <a:ext cx="7334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파트너십 · 임직원 참여 정량 보고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238098" y="6096305"/>
            <a:ext cx="7334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온실가스 회피량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238098" y="6371539"/>
            <a:ext cx="7334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3 일부 · KSSB 제2호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8858707" y="6191402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9715500" y="6191402"/>
            <a:ext cx="7334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폐플라스틱 처리·재활용에 따른 순탄소 회피량 (kgCO₂e)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1238098" y="6953098"/>
            <a:ext cx="7334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거버넌스 · 제3자 검증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1238098" y="7229246"/>
            <a:ext cx="7334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KSSB 제1호 · 거버넌스 공시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8858707" y="704819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9715500" y="7048195"/>
            <a:ext cx="7334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ESG위원회 안건 횟수 · PADI AWARE 100% 제3자 검증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952805" y="7858354"/>
            <a:ext cx="16383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번의 데이터 수집 → 5개 글로벌 기준 동시 대응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952805" y="8172907"/>
            <a:ext cx="1476756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52805" y="8172907"/>
            <a:ext cx="1476756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88900" rIns="152400" bIns="889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🇰🇷 KSSB 제1·2·101호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2521915" y="8172907"/>
            <a:ext cx="1429207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2521915" y="8172907"/>
            <a:ext cx="14292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88900" rIns="152400" bIns="889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🌍 ISSB IFRS S1·S2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4041648" y="8172907"/>
            <a:ext cx="1037844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041648" y="8172907"/>
            <a:ext cx="103875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88900" rIns="152400" bIns="889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🇪🇺 EU CSRD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5169103" y="8172907"/>
            <a:ext cx="1228954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5169103" y="8172907"/>
            <a:ext cx="1228954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88900" rIns="152400" bIns="889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🇺🇸 SEC 기후공시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6489497" y="8172907"/>
            <a:ext cx="1438351" cy="371246"/>
          </a:xfrm>
          <a:prstGeom prst="roundRect">
            <a:avLst>
              <a:gd name="adj" fmla="val 246306"/>
            </a:avLst>
          </a:prstGeom>
          <a:solidFill>
            <a:srgbClr val="FFFFFF"/>
          </a:solidFill>
          <a:ln w="12700">
            <a:solidFill>
              <a:srgbClr val="1E5EA8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489497" y="8172907"/>
            <a:ext cx="14383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88900" rIns="152400" bIns="889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TCFD · TNFD · CDP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11906402" y="8096098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 · COMPETITIVE EDGE</a:t>
            </a:r>
            <a:endParaRPr lang="en-US" sz="800" dirty="0"/>
          </a:p>
        </p:txBody>
      </p:sp>
      <p:sp>
        <p:nvSpPr>
          <p:cNvPr id="62" name="Text 55"/>
          <p:cNvSpPr txBox="1"/>
          <p:nvPr/>
        </p:nvSpPr>
        <p:spPr>
          <a:xfrm>
            <a:off x="11906402" y="8324698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4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2년</a:t>
            </a:r>
            <a:r>
              <a:rPr lang="en-US" sz="1600" b="1" kern="0" spc="-144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선점</a:t>
            </a:r>
            <a:endParaRPr lang="en-US" sz="3600" dirty="0"/>
          </a:p>
        </p:txBody>
      </p:sp>
      <p:sp>
        <p:nvSpPr>
          <p:cNvPr id="63" name="Text 56"/>
          <p:cNvSpPr txBox="1"/>
          <p:nvPr/>
        </p:nvSpPr>
        <p:spPr>
          <a:xfrm>
            <a:off x="11906402" y="8876995"/>
            <a:ext cx="5143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2026~2027년 가입 시 — 2028년 첫 공시에 </a:t>
            </a:r>
            <a:r>
              <a:rPr lang="en-US" sz="1000" b="1" kern="0" spc="-12" dirty="0">
                <a:solidFill>
                  <a:srgbClr val="6FE0E7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2년치 정량 데이터</a:t>
            </a:r>
            <a:r>
              <a:rPr lang="en-US" sz="1000" kern="0" spc="-12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확보. 경쟁사가 시작할 때 우리는 검증 완료.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5429707" cy="6381598"/>
          </a:xfrm>
          <a:prstGeom prst="roundRect">
            <a:avLst>
              <a:gd name="adj" fmla="val 236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707" y="2762402"/>
            <a:ext cx="5429707" cy="6572707"/>
          </a:xfrm>
          <a:prstGeom prst="roundRect">
            <a:avLst>
              <a:gd name="adj" fmla="val 236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91695" y="2952598"/>
            <a:ext cx="5143500" cy="6381598"/>
          </a:xfrm>
          <a:prstGeom prst="roundRect">
            <a:avLst>
              <a:gd name="adj" fmla="val 263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b788bfa8791915dd38356eb59dad0547.png"/>
          <p:cNvPicPr>
            <a:picLocks noChangeAspect="1"/>
          </p:cNvPicPr>
          <p:nvPr/>
        </p:nvPicPr>
        <p:blipFill>
          <a:blip r:embed="rId3"/>
          <a:srcRect t="-396" b="-396"/>
          <a:stretch/>
        </p:blipFill>
        <p:spPr>
          <a:xfrm>
            <a:off x="6572707" y="2762402"/>
            <a:ext cx="5429707" cy="57607"/>
          </a:xfrm>
          <a:prstGeom prst="rect">
            <a:avLst/>
          </a:prstGeom>
        </p:spPr>
      </p:pic>
      <p:pic>
        <p:nvPicPr>
          <p:cNvPr id="7" name="Image 1" descr="gen-dedup-704129f0ca36c8745d7788242aa1b9c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8" name="Image 2" descr="gen-dedup-06446f3514901bac009674aa65e280bf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333195" y="5715000"/>
            <a:ext cx="4667098" cy="9144"/>
          </a:xfrm>
          <a:prstGeom prst="rect">
            <a:avLst/>
          </a:prstGeom>
        </p:spPr>
      </p:pic>
      <p:pic>
        <p:nvPicPr>
          <p:cNvPr id="9" name="Image 3" descr="gen-dedup-a383ea4f36c0b2d3289dc5d862ff7033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953098" y="5715000"/>
            <a:ext cx="4667098" cy="9144"/>
          </a:xfrm>
          <a:prstGeom prst="rect">
            <a:avLst/>
          </a:prstGeom>
        </p:spPr>
      </p:pic>
      <p:pic>
        <p:nvPicPr>
          <p:cNvPr id="10" name="Image 4" descr="gen-dedup-50c06e66c22e5a01287b6aa241c14261.png"/>
          <p:cNvPicPr>
            <a:picLocks noChangeAspect="1"/>
          </p:cNvPicPr>
          <p:nvPr/>
        </p:nvPicPr>
        <p:blipFill>
          <a:blip r:embed="rId7"/>
          <a:srcRect l="-2089" r="-2089"/>
          <a:stretch/>
        </p:blipFill>
        <p:spPr>
          <a:xfrm>
            <a:off x="12573000" y="6286500"/>
            <a:ext cx="4381805" cy="9144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9 · MEMBERSHIP &amp; PRICING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23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기업 멤버십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투명한 가격, 명확한 산출물</a:t>
            </a:r>
            <a:endParaRPr lang="en-US" sz="4600" dirty="0"/>
          </a:p>
        </p:txBody>
      </p:sp>
      <p:sp>
        <p:nvSpPr>
          <p:cNvPr id="14" name="Text 7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자격 보유 임직원 10명 유지가 핵심 구조. 추가 인원은 별도 협의로 계속 수용 가능.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333195" y="3333902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 — YEAR 1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333195" y="3619195"/>
            <a:ext cx="4668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가입</a:t>
            </a:r>
            <a:endParaRPr lang="en-US" sz="2400" dirty="0"/>
          </a:p>
        </p:txBody>
      </p:sp>
      <p:sp>
        <p:nvSpPr>
          <p:cNvPr id="17" name="Text 10"/>
          <p:cNvSpPr txBox="1"/>
          <p:nvPr/>
        </p:nvSpPr>
        <p:spPr>
          <a:xfrm>
            <a:off x="1333195" y="4286707"/>
            <a:ext cx="46680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2,000</a:t>
            </a:r>
            <a:r>
              <a:rPr lang="en-US" sz="2100" b="1" kern="0" spc="-24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 원</a:t>
            </a:r>
            <a:endParaRPr lang="en-US" sz="60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5086807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 / 부가세 별도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1333195" y="5905195"/>
            <a:ext cx="4668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333195" y="6181344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PADI 프리다이버 Level 2 — </a:t>
            </a:r>
            <a:r>
              <a:rPr lang="en-US" sz="1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6명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333195" y="6460236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스쿠버 오픈워터 — </a:t>
            </a:r>
            <a:r>
              <a:rPr lang="en-US" sz="1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4명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1333195" y="6739128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연 4회 정기 활동 운영 일체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1333195" y="7017106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장비 · 보험 · 교통 · 식대 일체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1333195" y="7295998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Dive Against Debris® Specialty 교육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333195" y="757489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ESG 컨설팅 + 연말 통합 보고서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1333195" y="7853782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홍보 · 콘텐츠 패키지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0520172" y="2952598"/>
            <a:ext cx="1295705" cy="228600"/>
          </a:xfrm>
          <a:prstGeom prst="roundRect">
            <a:avLst>
              <a:gd name="adj" fmla="val 100000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0520172" y="2952598"/>
            <a:ext cx="12957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50800" rIns="114300" bIns="50800" rtlCol="0" anchor="ctr"/>
          <a:lstStyle/>
          <a:p>
            <a:pPr marL="0" indent="0" algn="r">
              <a:buNone/>
            </a:pPr>
            <a:r>
              <a:rPr lang="en-US" sz="800" b="1" kern="0" spc="165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 RATE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6953098" y="3333902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B — YEAR 2+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953098" y="3619195"/>
            <a:ext cx="4668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 (2년차부터)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6953098" y="4286707"/>
            <a:ext cx="593354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2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</a:t>
            </a:r>
            <a:r>
              <a:rPr lang="en-US" sz="2100" b="1" kern="0" spc="-240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만 원/년</a:t>
            </a:r>
            <a:endParaRPr lang="en-US" sz="6000" dirty="0"/>
          </a:p>
        </p:txBody>
      </p:sp>
      <p:sp>
        <p:nvSpPr>
          <p:cNvPr id="32" name="Text 25"/>
          <p:cNvSpPr txBox="1"/>
          <p:nvPr/>
        </p:nvSpPr>
        <p:spPr>
          <a:xfrm>
            <a:off x="6953098" y="5086807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 이후 / 부가세 별도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953098" y="5905195"/>
            <a:ext cx="4668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6953098" y="6181344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PADI 프리다이버 Level 2 — </a:t>
            </a:r>
            <a:r>
              <a:rPr lang="en-US" sz="1100" b="1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4명</a:t>
            </a: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신규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6953098" y="6460236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스쿠버 오픈워터 — </a:t>
            </a:r>
            <a:r>
              <a:rPr lang="en-US" sz="1100" b="1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</a:t>
            </a: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신규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6953098" y="6739128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위 1년차 운영 항목 </a:t>
            </a:r>
            <a:r>
              <a:rPr lang="en-US" sz="1100" b="1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동일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953098" y="7017106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미사용 활동 </a:t>
            </a:r>
            <a:r>
              <a:rPr lang="en-US" sz="1100" b="1" kern="0" spc="-12" dirty="0">
                <a:solidFill>
                  <a:srgbClr val="6FE0E7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차년도 1회 이월 가능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6953098" y="7295998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추가 자격증 취득자 </a:t>
            </a:r>
            <a:r>
              <a:rPr lang="en-US" sz="1100" b="1" kern="0" spc="-12" dirty="0">
                <a:solidFill>
                  <a:srgbClr val="6FE0E7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협의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953098" y="7574890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분기 + 연말 통합 ESG 보고서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6953098" y="7853782"/>
            <a:ext cx="4668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PADI AWARE 공동 인증 갱신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12573000" y="3333902"/>
            <a:ext cx="4381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PROGRAM — LIMITED 2 COMPANIES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2573000" y="3619195"/>
            <a:ext cx="4381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기업 특전</a:t>
            </a:r>
            <a:endParaRPr lang="en-US" sz="2400" dirty="0"/>
          </a:p>
        </p:txBody>
      </p:sp>
      <p:sp>
        <p:nvSpPr>
          <p:cNvPr id="43" name="Text 36"/>
          <p:cNvSpPr txBox="1"/>
          <p:nvPr/>
        </p:nvSpPr>
        <p:spPr>
          <a:xfrm>
            <a:off x="12573000" y="4334256"/>
            <a:ext cx="4381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180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실비 정산</a:t>
            </a:r>
            <a:endParaRPr lang="en-US" sz="4500" dirty="0"/>
          </a:p>
        </p:txBody>
      </p:sp>
      <p:sp>
        <p:nvSpPr>
          <p:cNvPr id="44" name="Text 37"/>
          <p:cNvSpPr txBox="1"/>
          <p:nvPr/>
        </p:nvSpPr>
        <p:spPr>
          <a:xfrm>
            <a:off x="12573000" y="5038344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 면제 또는 협의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 + 실비로 1년 운영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12573000" y="6476695"/>
            <a:ext cx="4381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EXCLUSIVE BENEFITS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2573000" y="6752844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효과성 검증 후 Phase 2 정식 멤버십 전환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12573000" y="7017106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</a:t>
            </a:r>
            <a:r>
              <a:rPr lang="en-US" sz="1100" b="1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보도자료</a:t>
            </a: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권한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2573000" y="7282282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</a:t>
            </a:r>
            <a:r>
              <a:rPr lang="en-US" sz="1100" b="1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연구(Case Study)</a:t>
            </a: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공동 제작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12573000" y="7546543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차년도 우선 갱신권</a:t>
            </a:r>
            <a:endParaRPr lang="en-US" sz="1100" dirty="0"/>
          </a:p>
        </p:txBody>
      </p:sp>
      <p:sp>
        <p:nvSpPr>
          <p:cNvPr id="50" name="Text 43"/>
          <p:cNvSpPr txBox="1"/>
          <p:nvPr/>
        </p:nvSpPr>
        <p:spPr>
          <a:xfrm>
            <a:off x="12573000" y="7810805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운영 개선 의견 우선 반영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5333695" cy="5524805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6695" y="2762402"/>
            <a:ext cx="5333695" cy="5905195"/>
          </a:xfrm>
          <a:prstGeom prst="roundRect">
            <a:avLst>
              <a:gd name="adj" fmla="val 367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1500" y="2952598"/>
            <a:ext cx="5333695" cy="5524805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pic>
        <p:nvPicPr>
          <p:cNvPr id="6" name="Image 0" descr="gen-dedup-6bd79dcc3cb0b3c1020f73b0b230f453.png"/>
          <p:cNvPicPr>
            <a:picLocks noChangeAspect="1"/>
          </p:cNvPicPr>
          <p:nvPr/>
        </p:nvPicPr>
        <p:blipFill>
          <a:blip r:embed="rId3"/>
          <a:srcRect t="-403" b="-403"/>
          <a:stretch/>
        </p:blipFill>
        <p:spPr>
          <a:xfrm>
            <a:off x="952805" y="2952598"/>
            <a:ext cx="5333695" cy="57607"/>
          </a:xfrm>
          <a:prstGeom prst="rect">
            <a:avLst/>
          </a:prstGeom>
        </p:spPr>
      </p:pic>
      <p:pic>
        <p:nvPicPr>
          <p:cNvPr id="7" name="Image 1" descr="gen-dedup-4355f944fcb072baebe2d9cc05f64664.png"/>
          <p:cNvPicPr>
            <a:picLocks noChangeAspect="1"/>
          </p:cNvPicPr>
          <p:nvPr/>
        </p:nvPicPr>
        <p:blipFill>
          <a:blip r:embed="rId4"/>
          <a:srcRect t="-403" b="-403"/>
          <a:stretch/>
        </p:blipFill>
        <p:spPr>
          <a:xfrm>
            <a:off x="6476695" y="2762402"/>
            <a:ext cx="5333695" cy="57607"/>
          </a:xfrm>
          <a:prstGeom prst="rect">
            <a:avLst/>
          </a:prstGeom>
        </p:spPr>
      </p:pic>
      <p:pic>
        <p:nvPicPr>
          <p:cNvPr id="8" name="Image 2" descr="gen-dedup-6bd79dcc3cb0b3c1020f73b0b230f453.png"/>
          <p:cNvPicPr>
            <a:picLocks noChangeAspect="1"/>
          </p:cNvPicPr>
          <p:nvPr/>
        </p:nvPicPr>
        <p:blipFill>
          <a:blip r:embed="rId3"/>
          <a:srcRect t="-403" b="-403"/>
          <a:stretch/>
        </p:blipFill>
        <p:spPr>
          <a:xfrm>
            <a:off x="12001500" y="2952598"/>
            <a:ext cx="5333695" cy="57607"/>
          </a:xfrm>
          <a:prstGeom prst="rect">
            <a:avLst/>
          </a:prstGeom>
        </p:spPr>
      </p:pic>
      <p:pic>
        <p:nvPicPr>
          <p:cNvPr id="9" name="Image 3" descr="gen-dedup-704129f0ca36c8745d7788242aa1b9c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10" name="Image 4" descr="gen-dedup-70aaabff775b89ed0f77f839ee71f6f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333195" y="7429500"/>
            <a:ext cx="4572000" cy="9144"/>
          </a:xfrm>
          <a:prstGeom prst="rect">
            <a:avLst/>
          </a:prstGeom>
        </p:spPr>
      </p:pic>
      <p:pic>
        <p:nvPicPr>
          <p:cNvPr id="11" name="Image 5" descr="gen-dedup-686d2ad08eeedbe599d944d9250a9a80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858000" y="7429500"/>
            <a:ext cx="4572000" cy="9144"/>
          </a:xfrm>
          <a:prstGeom prst="rect">
            <a:avLst/>
          </a:prstGeom>
        </p:spPr>
      </p:pic>
      <p:pic>
        <p:nvPicPr>
          <p:cNvPr id="12" name="Image 6" descr="gen-dedup-70aaabff775b89ed0f77f839ee71f6f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2382805" y="7429500"/>
            <a:ext cx="4572000" cy="9144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52805" y="8906256"/>
            <a:ext cx="16383305" cy="857707"/>
          </a:xfrm>
          <a:prstGeom prst="roundRect">
            <a:avLst>
              <a:gd name="adj" fmla="val 14215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5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9 · CO-CREATION MODEL</a:t>
            </a:r>
            <a:endParaRPr lang="en-US" sz="900" dirty="0"/>
          </a:p>
        </p:txBody>
      </p:sp>
      <p:sp>
        <p:nvSpPr>
          <p:cNvPr id="15" name="Text 6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23</a:t>
            </a:r>
            <a:endParaRPr lang="en-US" sz="900" dirty="0"/>
          </a:p>
        </p:txBody>
      </p:sp>
      <p:sp>
        <p:nvSpPr>
          <p:cNvPr id="16" name="Text 7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기업 × 강사 × 다이버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만드는 ESG 성과</a:t>
            </a:r>
            <a:endParaRPr lang="en-US" sz="4600" dirty="0"/>
          </a:p>
        </p:txBody>
      </p:sp>
      <p:sp>
        <p:nvSpPr>
          <p:cNvPr id="17" name="Text 8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사이클의 검증 가능한 정량 ESG 성과는 — 세 주체가 각자의 책임을 다할 때 비로소 완성됩니다.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1333195" y="3409798"/>
            <a:ext cx="8668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01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5455310" y="3286354"/>
            <a:ext cx="53126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DDE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100" dirty="0"/>
          </a:p>
        </p:txBody>
      </p:sp>
      <p:sp>
        <p:nvSpPr>
          <p:cNvPr id="20" name="Text 11"/>
          <p:cNvSpPr txBox="1"/>
          <p:nvPr/>
        </p:nvSpPr>
        <p:spPr>
          <a:xfrm>
            <a:off x="1333195" y="3819449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멤버십</a:t>
            </a:r>
            <a:endParaRPr lang="en-US" sz="2500" dirty="0"/>
          </a:p>
        </p:txBody>
      </p:sp>
      <p:sp>
        <p:nvSpPr>
          <p:cNvPr id="21" name="Text 12"/>
          <p:cNvSpPr txBox="1"/>
          <p:nvPr/>
        </p:nvSpPr>
        <p:spPr>
          <a:xfrm>
            <a:off x="1333195" y="4249217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거버넌스 · 자원 책임</a:t>
            </a:r>
            <a:endParaRPr lang="en-US" sz="1100" dirty="0"/>
          </a:p>
        </p:txBody>
      </p:sp>
      <p:sp>
        <p:nvSpPr>
          <p:cNvPr id="22" name="Text 13"/>
          <p:cNvSpPr txBox="1"/>
          <p:nvPr/>
        </p:nvSpPr>
        <p:spPr>
          <a:xfrm>
            <a:off x="1333195" y="4619549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THEY BRING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1333195" y="5325466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1333195" y="5076749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1505102" y="4990795"/>
            <a:ext cx="3068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ESG위원회 정식 안건 채택 · 거버넌스 연계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1333195" y="5766206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1333195" y="5517490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505102" y="5431536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자원 · 예산 · 보험 책임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1333195" y="6206033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1333195" y="5958230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1505102" y="5872277"/>
            <a:ext cx="2131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참여 · 자격 취득 지원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1333195" y="6398057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1505102" y="631301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공개 동의 · 대외 커뮤니케이션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333195" y="7572146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→</a:t>
            </a:r>
            <a:endParaRPr lang="en-US" sz="800" dirty="0"/>
          </a:p>
        </p:txBody>
      </p:sp>
      <p:sp>
        <p:nvSpPr>
          <p:cNvPr id="35" name="Text 26"/>
          <p:cNvSpPr txBox="1"/>
          <p:nvPr/>
        </p:nvSpPr>
        <p:spPr>
          <a:xfrm>
            <a:off x="1333195" y="780074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ESG 데이터 · PADI AWARE 공동 인증 · 국제 표준 자동 매핑 보고서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858000" y="3219602"/>
            <a:ext cx="20939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02 — KEYSTONE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901477" y="3095244"/>
            <a:ext cx="5340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100" dirty="0"/>
          </a:p>
        </p:txBody>
      </p:sp>
      <p:sp>
        <p:nvSpPr>
          <p:cNvPr id="38" name="Text 29"/>
          <p:cNvSpPr txBox="1"/>
          <p:nvPr/>
        </p:nvSpPr>
        <p:spPr>
          <a:xfrm>
            <a:off x="6858000" y="3629254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강사 멤버십</a:t>
            </a:r>
            <a:endParaRPr lang="en-US" sz="2500" dirty="0"/>
          </a:p>
        </p:txBody>
      </p:sp>
      <p:sp>
        <p:nvSpPr>
          <p:cNvPr id="39" name="Text 30"/>
          <p:cNvSpPr txBox="1"/>
          <p:nvPr/>
        </p:nvSpPr>
        <p:spPr>
          <a:xfrm>
            <a:off x="6858000" y="4058107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6FE0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리더십 · 안전 · 데이터 품질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858000" y="4429354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THEY BRING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6858000" y="5134356"/>
            <a:ext cx="4572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858000" y="4886554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7029907" y="4800600"/>
            <a:ext cx="2618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Instructor · 다이브마스터 자격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6858000" y="5575097"/>
            <a:ext cx="4572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858000" y="5327294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7029907" y="5241341"/>
            <a:ext cx="2727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브리핑 · 체크리스트 · SOP 운용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858000" y="6015838"/>
            <a:ext cx="4572000" cy="91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858000" y="5767121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7029907" y="5682082"/>
            <a:ext cx="3049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· GPS · 품목 · 중량 데이터 정확도 책임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6858000" y="6207862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7029907" y="6121908"/>
            <a:ext cx="2748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무사고 0건 목표 · 정기 갱신교육 이수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6858000" y="7572146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→</a:t>
            </a:r>
            <a:endParaRPr lang="en-US" sz="800" dirty="0"/>
          </a:p>
        </p:txBody>
      </p:sp>
      <p:sp>
        <p:nvSpPr>
          <p:cNvPr id="53" name="Text 44"/>
          <p:cNvSpPr txBox="1"/>
          <p:nvPr/>
        </p:nvSpPr>
        <p:spPr>
          <a:xfrm>
            <a:off x="6858000" y="7800746"/>
            <a:ext cx="5085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리드 수당 · 안전관리 인센티브 · 보험 · 정기 갱신교육 지원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12382805" y="3409798"/>
            <a:ext cx="8705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03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16418052" y="3286354"/>
            <a:ext cx="5431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DDE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100" dirty="0"/>
          </a:p>
        </p:txBody>
      </p:sp>
      <p:sp>
        <p:nvSpPr>
          <p:cNvPr id="56" name="Text 47"/>
          <p:cNvSpPr txBox="1"/>
          <p:nvPr/>
        </p:nvSpPr>
        <p:spPr>
          <a:xfrm>
            <a:off x="12382805" y="3819449"/>
            <a:ext cx="457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다이버 멤버십</a:t>
            </a:r>
            <a:endParaRPr lang="en-US" sz="2500" dirty="0"/>
          </a:p>
        </p:txBody>
      </p:sp>
      <p:sp>
        <p:nvSpPr>
          <p:cNvPr id="57" name="Text 48"/>
          <p:cNvSpPr txBox="1"/>
          <p:nvPr/>
        </p:nvSpPr>
        <p:spPr>
          <a:xfrm>
            <a:off x="12382805" y="4249217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· 시민과학 데이터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12382805" y="4619549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THEY BRING</a:t>
            </a:r>
            <a:endParaRPr lang="en-US" sz="800" dirty="0"/>
          </a:p>
        </p:txBody>
      </p:sp>
      <p:sp>
        <p:nvSpPr>
          <p:cNvPr id="59" name="Shape 50"/>
          <p:cNvSpPr/>
          <p:nvPr/>
        </p:nvSpPr>
        <p:spPr>
          <a:xfrm>
            <a:off x="12382805" y="5325466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12382805" y="5076749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12553798" y="4990795"/>
            <a:ext cx="3643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보유(스쿠버 OW · 프리다이버) 또는 신규 취득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12382805" y="5766206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12382805" y="5517490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12553798" y="5431536"/>
            <a:ext cx="1989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2회 이상 정례 활동 참여</a:t>
            </a:r>
            <a:endParaRPr lang="en-US" sz="1100" dirty="0"/>
          </a:p>
        </p:txBody>
      </p:sp>
      <p:sp>
        <p:nvSpPr>
          <p:cNvPr id="65" name="Shape 56"/>
          <p:cNvSpPr/>
          <p:nvPr/>
        </p:nvSpPr>
        <p:spPr>
          <a:xfrm>
            <a:off x="12382805" y="6206033"/>
            <a:ext cx="4572000" cy="9144"/>
          </a:xfrm>
          <a:prstGeom prst="rect">
            <a:avLst/>
          </a:prstGeom>
          <a:solidFill>
            <a:srgbClr val="DDE4EB"/>
          </a:solidFill>
          <a:ln w="12700">
            <a:solidFill>
              <a:srgbClr val="DDE4EB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12382805" y="5958230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12553798" y="5872277"/>
            <a:ext cx="2961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SOP · 체크리스트 준수 · 활동 로그 제출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12382805" y="6398057"/>
            <a:ext cx="57607" cy="57607"/>
          </a:xfrm>
          <a:prstGeom prst="ellipse">
            <a:avLst/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12553798" y="6313018"/>
            <a:ext cx="2044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초상권 · 개인정보 표준 동의</a:t>
            </a:r>
            <a:endParaRPr lang="en-US" sz="1100" dirty="0"/>
          </a:p>
        </p:txBody>
      </p:sp>
      <p:sp>
        <p:nvSpPr>
          <p:cNvPr id="70" name="Text 61"/>
          <p:cNvSpPr txBox="1"/>
          <p:nvPr/>
        </p:nvSpPr>
        <p:spPr>
          <a:xfrm>
            <a:off x="12382805" y="7572146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→</a:t>
            </a:r>
            <a:endParaRPr lang="en-US" sz="800" dirty="0"/>
          </a:p>
        </p:txBody>
      </p:sp>
      <p:sp>
        <p:nvSpPr>
          <p:cNvPr id="71" name="Text 62"/>
          <p:cNvSpPr txBox="1"/>
          <p:nvPr/>
        </p:nvSpPr>
        <p:spPr>
          <a:xfrm>
            <a:off x="12382805" y="780074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 · DAD® Specialty 인증 · 글로벌 네트워크 · 포인트·레벨</a:t>
            </a:r>
            <a:endParaRPr lang="en-US" sz="1200" dirty="0"/>
          </a:p>
        </p:txBody>
      </p:sp>
      <p:sp>
        <p:nvSpPr>
          <p:cNvPr id="72" name="Text 63"/>
          <p:cNvSpPr txBox="1"/>
          <p:nvPr/>
        </p:nvSpPr>
        <p:spPr>
          <a:xfrm>
            <a:off x="1333195" y="9096451"/>
            <a:ext cx="8258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OUTCOME — ONE CYCLE</a:t>
            </a:r>
            <a:endParaRPr lang="en-US" sz="900" dirty="0"/>
          </a:p>
        </p:txBody>
      </p:sp>
      <p:sp>
        <p:nvSpPr>
          <p:cNvPr id="73" name="Text 64"/>
          <p:cNvSpPr txBox="1"/>
          <p:nvPr/>
        </p:nvSpPr>
        <p:spPr>
          <a:xfrm>
            <a:off x="1333195" y="9277502"/>
            <a:ext cx="89446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세 주체가 만나는 곳 → PADI AWARE Foundation에 등재되는 검증 가능한 단 하나의 ESG 성과</a:t>
            </a:r>
            <a:endParaRPr lang="en-US" sz="1600" dirty="0"/>
          </a:p>
        </p:txBody>
      </p:sp>
      <p:sp>
        <p:nvSpPr>
          <p:cNvPr id="74" name="Text 65"/>
          <p:cNvSpPr txBox="1"/>
          <p:nvPr/>
        </p:nvSpPr>
        <p:spPr>
          <a:xfrm>
            <a:off x="14313103" y="9137599"/>
            <a:ext cx="31309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105" dirty="0">
                <a:solidFill>
                  <a:srgbClr val="0A2540"/>
                </a:solidFill>
                <a:latin typeface="var(--font-num)" pitchFamily="34" charset="0"/>
                <a:ea typeface="var(--font-num)" pitchFamily="34" charset="-122"/>
                <a:cs typeface="var(--font-num)" pitchFamily="34" charset="-120"/>
              </a:rPr>
              <a:t> ① + ② + ③ = </a:t>
            </a:r>
            <a:r>
              <a:rPr lang="en-US" sz="2100" b="1" kern="0" spc="10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ESG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acde10713a5fc05683a30669754931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4667098"/>
            <a:ext cx="5143500" cy="4572000"/>
          </a:xfrm>
          <a:prstGeom prst="rect">
            <a:avLst/>
          </a:prstGeom>
        </p:spPr>
      </p:pic>
      <p:pic>
        <p:nvPicPr>
          <p:cNvPr id="4" name="Image 1" descr="gen-dedup-acde10713a5fc05683a30669754931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0" y="4667098"/>
            <a:ext cx="5143500" cy="4572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620195" y="4667098"/>
            <a:ext cx="5715000" cy="4572000"/>
          </a:xfrm>
          <a:prstGeom prst="roundRect">
            <a:avLst>
              <a:gd name="adj" fmla="val 333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19f1fb30496063fabae1186840f044d3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1333195" y="4095598"/>
            <a:ext cx="15620695" cy="38405"/>
          </a:xfrm>
          <a:prstGeom prst="rect">
            <a:avLst/>
          </a:prstGeom>
        </p:spPr>
      </p:pic>
      <p:pic>
        <p:nvPicPr>
          <p:cNvPr id="7" name="Image 3" descr="gen-dedup-1afb0b1f73d36dcc8d19e4841d7da72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620195" y="4667098"/>
            <a:ext cx="5715000" cy="38405"/>
          </a:xfrm>
          <a:prstGeom prst="rect">
            <a:avLst/>
          </a:prstGeom>
        </p:spPr>
      </p:pic>
      <p:pic>
        <p:nvPicPr>
          <p:cNvPr id="8" name="Image 4" descr="gen-dedup-d9e3902ae8c0f3dea037238fdd87de88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1333195" y="4095598"/>
            <a:ext cx="10477195" cy="38405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143000" y="3924605"/>
            <a:ext cx="381305" cy="381305"/>
          </a:xfrm>
          <a:prstGeom prst="ellipse">
            <a:avLst/>
          </a:prstGeom>
          <a:solidFill>
            <a:srgbClr val="0A2540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6476695" y="3924605"/>
            <a:ext cx="381305" cy="381305"/>
          </a:xfrm>
          <a:prstGeom prst="ellipse">
            <a:avLst/>
          </a:prstGeom>
          <a:solidFill>
            <a:srgbClr val="0A2540"/>
          </a:solidFill>
          <a:ln w="50800">
            <a:solidFill>
              <a:srgbClr val="F7FAFC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11811305" y="3924605"/>
            <a:ext cx="381305" cy="381305"/>
          </a:xfrm>
          <a:prstGeom prst="ellipse">
            <a:avLst/>
          </a:prstGeom>
          <a:solidFill>
            <a:srgbClr val="00C2D7"/>
          </a:solidFill>
          <a:ln w="50800">
            <a:solidFill>
              <a:srgbClr val="F7FAFC"/>
            </a:solidFill>
            <a:prstDash val="solid"/>
          </a:ln>
        </p:spPr>
      </p:sp>
      <p:pic>
        <p:nvPicPr>
          <p:cNvPr id="12" name="Image 5" descr="gen-dedup-704129f0ca36c8745d7788242aa1b9c7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10 · 3-YEAR ROADMAP</a:t>
            </a:r>
            <a:endParaRPr lang="en-US" sz="900" dirty="0"/>
          </a:p>
        </p:txBody>
      </p:sp>
      <p:sp>
        <p:nvSpPr>
          <p:cNvPr id="14" name="Text 6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23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3년 로드맵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· 확장 · 성숙</a:t>
            </a:r>
            <a:endParaRPr lang="en-US" sz="4600" dirty="0"/>
          </a:p>
        </p:txBody>
      </p:sp>
      <p:sp>
        <p:nvSpPr>
          <p:cNvPr id="16" name="Text 8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온보딩으로 시작 → 1년차 기반 구축 → 2년차 인증 확장 → 3년차 기업 문화 정착 + 콜라보.</a:t>
            </a:r>
            <a:endParaRPr lang="en-US" sz="1500" dirty="0"/>
          </a:p>
        </p:txBody>
      </p:sp>
      <p:sp>
        <p:nvSpPr>
          <p:cNvPr id="17" name="Text 9"/>
          <p:cNvSpPr txBox="1"/>
          <p:nvPr/>
        </p:nvSpPr>
        <p:spPr>
          <a:xfrm>
            <a:off x="1333195" y="3143707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YEAR 1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1333195" y="3372307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구축</a:t>
            </a:r>
            <a:endParaRPr lang="en-US" sz="2200" dirty="0"/>
          </a:p>
        </p:txBody>
      </p:sp>
      <p:sp>
        <p:nvSpPr>
          <p:cNvPr id="19" name="Text 11"/>
          <p:cNvSpPr txBox="1"/>
          <p:nvPr/>
        </p:nvSpPr>
        <p:spPr>
          <a:xfrm>
            <a:off x="1333195" y="4858207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20" name="Text 12"/>
          <p:cNvSpPr txBox="1"/>
          <p:nvPr/>
        </p:nvSpPr>
        <p:spPr>
          <a:xfrm>
            <a:off x="1333195" y="504840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위원회 신설 또는 개편, MOBA 정식 안건 채택. 임직원 설명회 + 운영팀·다이브센터 협력 체계 구축.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1333195" y="6096305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2" name="Text 14"/>
          <p:cNvSpPr txBox="1"/>
          <p:nvPr/>
        </p:nvSpPr>
        <p:spPr>
          <a:xfrm>
            <a:off x="1333195" y="6286500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교육 + 시범 활동 → 연 4회 중 최소 3회 정기 활동 실시 → 분기 요약 보고서 → 첫 연간 성과 보고서 발간.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1333195" y="7524598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TARGETS</a:t>
            </a:r>
            <a:endParaRPr lang="en-US" sz="800" dirty="0"/>
          </a:p>
        </p:txBody>
      </p:sp>
      <p:sp>
        <p:nvSpPr>
          <p:cNvPr id="24" name="Text 16"/>
          <p:cNvSpPr txBox="1"/>
          <p:nvPr/>
        </p:nvSpPr>
        <p:spPr>
          <a:xfrm>
            <a:off x="1333195" y="7753198"/>
            <a:ext cx="57881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000" b="1" kern="0" spc="-9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1333195" y="8043062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보유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1985162" y="7753198"/>
            <a:ext cx="57881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3+</a:t>
            </a:r>
            <a:r>
              <a:rPr lang="en-US" sz="1000" b="1" kern="0" spc="-9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</a:t>
            </a:r>
            <a:endParaRPr lang="en-US" sz="2400" dirty="0"/>
          </a:p>
        </p:txBody>
      </p:sp>
      <p:sp>
        <p:nvSpPr>
          <p:cNvPr id="27" name="Text 19"/>
          <p:cNvSpPr txBox="1"/>
          <p:nvPr/>
        </p:nvSpPr>
        <p:spPr>
          <a:xfrm>
            <a:off x="1985162" y="8043062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활동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2636215" y="7753198"/>
            <a:ext cx="81655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000" b="1" kern="0" spc="-9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Text 21"/>
          <p:cNvSpPr txBox="1"/>
          <p:nvPr/>
        </p:nvSpPr>
        <p:spPr>
          <a:xfrm>
            <a:off x="2636215" y="8043062"/>
            <a:ext cx="685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등재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3486607" y="7753198"/>
            <a:ext cx="191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9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3486607" y="8043062"/>
            <a:ext cx="2157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6667805" y="3143707"/>
            <a:ext cx="4763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YEAR 2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6667805" y="3372307"/>
            <a:ext cx="4763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+ 인증</a:t>
            </a:r>
            <a:endParaRPr lang="en-US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6667805" y="4858207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800" dirty="0"/>
          </a:p>
        </p:txBody>
      </p:sp>
      <p:sp>
        <p:nvSpPr>
          <p:cNvPr id="35" name="Text 27"/>
          <p:cNvSpPr txBox="1"/>
          <p:nvPr/>
        </p:nvSpPr>
        <p:spPr>
          <a:xfrm>
            <a:off x="6667805" y="5048402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인원 확대 + 활동 지역 다각화(본사 외 지방 사업장 인근). 협력사·자회사 참여 옵션 + 가족 동반 프로그램 본격 운영.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6667805" y="6286500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6667805" y="6476695"/>
            <a:ext cx="4572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2C3E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ISO 14001 인증 본격 추진. MOBA 데이터를 환경 목표 달성 증거로 제출. DJSI 평가 항목 대응 자료 축적.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6667805" y="7715707"/>
            <a:ext cx="4572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6667805" y="794430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KCGS · MSCI 환경(E) 등급 </a:t>
            </a:r>
            <a:r>
              <a:rPr lang="en-US" sz="1000" b="1" kern="0" spc="-12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 단계 이상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6667805" y="81701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ISO 14001 인증 획득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6667805" y="839693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자회사·협력사 확장 1~2사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12001500" y="3143707"/>
            <a:ext cx="5334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93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— YEAR 3+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2001500" y="3372307"/>
            <a:ext cx="5334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성숙 + 콜라보</a:t>
            </a:r>
            <a:endParaRPr lang="en-US" sz="2200" dirty="0"/>
          </a:p>
        </p:txBody>
      </p:sp>
      <p:sp>
        <p:nvSpPr>
          <p:cNvPr id="44" name="Text 36"/>
          <p:cNvSpPr txBox="1"/>
          <p:nvPr/>
        </p:nvSpPr>
        <p:spPr>
          <a:xfrm>
            <a:off x="12001500" y="4858207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INTEGRATION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12001500" y="5048402"/>
            <a:ext cx="5143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MOBA가 기업 문화의 일부로 정착. 신입사원 오리엔테이션에 포함. 분기 활동이 정례 일정으로 자리잡음.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2001500" y="6286500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CROSS-COMPANY COLLAB</a:t>
            </a:r>
            <a:endParaRPr lang="en-US" sz="800" dirty="0"/>
          </a:p>
        </p:txBody>
      </p:sp>
      <p:sp>
        <p:nvSpPr>
          <p:cNvPr id="47" name="Text 39"/>
          <p:cNvSpPr txBox="1"/>
          <p:nvPr/>
        </p:nvSpPr>
        <p:spPr>
          <a:xfrm>
            <a:off x="12001500" y="6476695"/>
            <a:ext cx="5143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A(수거) + B(섬유·재활용) + C(디자인·제조) 가치사슬 협력. 폐어망 → 재생원료 → </a:t>
            </a:r>
            <a:r>
              <a:rPr lang="en-US" sz="1000" b="1" kern="0" spc="-12" dirty="0">
                <a:solidFill>
                  <a:srgbClr val="6FE0E7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업사이클 제품 판매</a:t>
            </a:r>
            <a:r>
              <a:rPr lang="en-US" sz="10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12001500" y="7715707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6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EXPANSION VISION</a:t>
            </a:r>
            <a:endParaRPr lang="en-US" sz="800" dirty="0"/>
          </a:p>
        </p:txBody>
      </p:sp>
      <p:sp>
        <p:nvSpPr>
          <p:cNvPr id="49" name="Text 41"/>
          <p:cNvSpPr txBox="1"/>
          <p:nvPr/>
        </p:nvSpPr>
        <p:spPr>
          <a:xfrm>
            <a:off x="12001500" y="7905902"/>
            <a:ext cx="5143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표준의 국가별 브랜치 론칭 — 중국·일본 등 인접 시장 + 다국적 기업 해외 지사. Our Ocean Conference 참여.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952805" y="9525305"/>
            <a:ext cx="1638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3-month onboarding model:</a:t>
            </a:r>
            <a:r>
              <a:rPr lang="en-US" sz="12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M-1 킥오프 → M1 자격 교육 → M2 첫 정기 활동 → M3 ESG위원회 정식 보고 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5" y="2952598"/>
            <a:ext cx="8191195" cy="2857500"/>
          </a:xfrm>
          <a:prstGeom prst="roundRect">
            <a:avLst>
              <a:gd name="adj" fmla="val 1280"/>
            </a:avLst>
          </a:prstGeom>
          <a:solidFill>
            <a:srgbClr val="0A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2952598"/>
            <a:ext cx="8001000" cy="2857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34195" y="2952598"/>
            <a:ext cx="8001000" cy="38405"/>
          </a:xfrm>
          <a:prstGeom prst="roundRect">
            <a:avLst>
              <a:gd name="adj" fmla="val 95238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2805" y="6048756"/>
            <a:ext cx="8191195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805" y="6048756"/>
            <a:ext cx="8191195" cy="38405"/>
          </a:xfrm>
          <a:prstGeom prst="roundRect">
            <a:avLst>
              <a:gd name="adj" fmla="val 119047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4195" y="6048756"/>
            <a:ext cx="8001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34195" y="6048756"/>
            <a:ext cx="8001000" cy="38405"/>
          </a:xfrm>
          <a:prstGeom prst="roundRect">
            <a:avLst>
              <a:gd name="adj" fmla="val 119047"/>
            </a:avLst>
          </a:prstGeom>
          <a:solidFill>
            <a:srgbClr val="00C2D7"/>
          </a:solidFill>
          <a:ln w="12700">
            <a:solidFill>
              <a:srgbClr val="00C2D7">
                <a:alpha val="0"/>
              </a:srgbClr>
            </a:solidFill>
            <a:prstDash val="solid"/>
          </a:ln>
        </p:spPr>
      </p:sp>
      <p:pic>
        <p:nvPicPr>
          <p:cNvPr id="10" name="Image 0" descr="gen-dedup-704129f0ca36c8745d7788242aa1b9c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52805" y="8620049"/>
            <a:ext cx="16383305" cy="1143000"/>
          </a:xfrm>
          <a:prstGeom prst="roundRect">
            <a:avLst>
              <a:gd name="adj" fmla="val 8000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2805" y="666598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11 · WHAT YOUR COMPANY GAINS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5A6B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1095451"/>
            <a:ext cx="1638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16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회사가 얻는 것 — </a:t>
            </a:r>
            <a:r>
              <a:rPr lang="en-US" sz="4600" b="1" kern="0" spc="-116" dirty="0">
                <a:solidFill>
                  <a:srgbClr val="1E5E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가입, 4개 영역의 자산</a:t>
            </a:r>
            <a:endParaRPr lang="en-US" sz="46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2048256"/>
            <a:ext cx="14287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멤버십이 임직원 복지 · ESG 보고 · 브랜드 평판 · 리스크 관리 — 네 영역에 동시에 효과를 만듭니다.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3241548"/>
            <a:ext cx="280446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01 · EMPLOYEE WELFARE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479292"/>
            <a:ext cx="2610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복지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120786" y="3238805"/>
            <a:ext cx="78364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00C2D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4334256"/>
            <a:ext cx="2324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15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 / 년</a:t>
            </a:r>
            <a:endParaRPr lang="en-US" sz="31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4790542"/>
            <a:ext cx="2324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 자격증 취득 지원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(평생 보유 자산)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886200" y="4334256"/>
            <a:ext cx="2324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15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 예산</a:t>
            </a:r>
            <a:endParaRPr lang="en-US" sz="3100" dirty="0"/>
          </a:p>
        </p:txBody>
      </p:sp>
      <p:sp>
        <p:nvSpPr>
          <p:cNvPr id="22" name="Text 19"/>
          <p:cNvSpPr txBox="1"/>
          <p:nvPr/>
        </p:nvSpPr>
        <p:spPr>
          <a:xfrm>
            <a:off x="3886200" y="4790542"/>
            <a:ext cx="2324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+ 복지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충당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439205" y="4334256"/>
            <a:ext cx="2324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6FE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15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회 / 년</a:t>
            </a:r>
            <a:endParaRPr lang="en-US" sz="3100" dirty="0"/>
          </a:p>
        </p:txBody>
      </p:sp>
      <p:sp>
        <p:nvSpPr>
          <p:cNvPr id="24" name="Text 21"/>
          <p:cNvSpPr txBox="1"/>
          <p:nvPr/>
        </p:nvSpPr>
        <p:spPr>
          <a:xfrm>
            <a:off x="6439205" y="4790542"/>
            <a:ext cx="2324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팀빌딩 · 부서간 협업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웰빙 프로그램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0" y="3241548"/>
            <a:ext cx="24752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02 · ESG REPORTING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3479292"/>
            <a:ext cx="22677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정량 보고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16192195" y="3238805"/>
            <a:ext cx="7626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92" dirty="0">
                <a:solidFill>
                  <a:srgbClr val="DDE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8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4334256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15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00" dirty="0"/>
          </a:p>
        </p:txBody>
      </p:sp>
      <p:sp>
        <p:nvSpPr>
          <p:cNvPr id="29" name="Text 26"/>
          <p:cNvSpPr txBox="1"/>
          <p:nvPr/>
        </p:nvSpPr>
        <p:spPr>
          <a:xfrm>
            <a:off x="9715500" y="4790542"/>
            <a:ext cx="22677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제3자(PADI AWARE)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커버리지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204497" y="4334256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r>
              <a:rPr lang="en-US" sz="15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 표준</a:t>
            </a:r>
            <a:endParaRPr lang="en-US" sz="3100" dirty="0"/>
          </a:p>
        </p:txBody>
      </p:sp>
      <p:sp>
        <p:nvSpPr>
          <p:cNvPr id="31" name="Text 28"/>
          <p:cNvSpPr txBox="1"/>
          <p:nvPr/>
        </p:nvSpPr>
        <p:spPr>
          <a:xfrm>
            <a:off x="12204497" y="4790542"/>
            <a:ext cx="22677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· ISO · SDG ·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CSRD · ISSB · TNFD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4693494" y="4334256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6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sz="1500" b="1" kern="0" spc="-126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</a:t>
            </a:r>
            <a:endParaRPr lang="en-US" sz="3100" dirty="0"/>
          </a:p>
        </p:txBody>
      </p:sp>
      <p:sp>
        <p:nvSpPr>
          <p:cNvPr id="33" name="Text 30"/>
          <p:cNvSpPr txBox="1"/>
          <p:nvPr/>
        </p:nvSpPr>
        <p:spPr>
          <a:xfrm>
            <a:off x="14693494" y="4790542"/>
            <a:ext cx="22677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보고서 4 +</a:t>
            </a:r>
            <a:endParaRPr lang="en-US" sz="900" dirty="0"/>
          </a:p>
          <a:p>
            <a:pPr marL="0" indent="0" algn="l">
              <a:buNone/>
            </a:pPr>
            <a:r>
              <a:rPr lang="en-US" sz="900" kern="0" spc="-12" dirty="0">
                <a:solidFill>
                  <a:srgbClr val="5A6B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통합 1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333195" y="6334049"/>
            <a:ext cx="30220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03 · BRAND &amp; REPUTATION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33195" y="6572707"/>
            <a:ext cx="2781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· 평판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8110728" y="6355994"/>
            <a:ext cx="6574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62" dirty="0">
                <a:solidFill>
                  <a:srgbClr val="DDE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Shape 34"/>
          <p:cNvSpPr/>
          <p:nvPr/>
        </p:nvSpPr>
        <p:spPr>
          <a:xfrm>
            <a:off x="1333195" y="7334402"/>
            <a:ext cx="1466698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33195" y="7334402"/>
            <a:ext cx="14676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자산 (사진·영상)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874874" y="7334402"/>
            <a:ext cx="1123798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874874" y="7334402"/>
            <a:ext cx="11247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언론·미디어 노출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071823" y="7334402"/>
            <a:ext cx="972007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071823" y="7334402"/>
            <a:ext cx="972007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 감사장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118811" y="7334402"/>
            <a:ext cx="1190549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18811" y="7334402"/>
            <a:ext cx="1191463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호감도 ↑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382512" y="7334402"/>
            <a:ext cx="1886407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82512" y="7334402"/>
            <a:ext cx="1886407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ICC Day · AWARE Week 연계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333195" y="7744054"/>
            <a:ext cx="1638605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333195" y="7744054"/>
            <a:ext cx="16386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공동 브랜딩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9715500" y="6334049"/>
            <a:ext cx="26974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1E5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04 · RISK MANAGEMENT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9715500" y="6572707"/>
            <a:ext cx="25722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관리</a:t>
            </a:r>
            <a:endParaRPr lang="en-US" sz="2100" dirty="0"/>
          </a:p>
        </p:txBody>
      </p:sp>
      <p:sp>
        <p:nvSpPr>
          <p:cNvPr id="51" name="Text 48"/>
          <p:cNvSpPr txBox="1"/>
          <p:nvPr/>
        </p:nvSpPr>
        <p:spPr>
          <a:xfrm>
            <a:off x="16285464" y="6355994"/>
            <a:ext cx="676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62" dirty="0">
                <a:solidFill>
                  <a:srgbClr val="DDE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000" dirty="0"/>
          </a:p>
        </p:txBody>
      </p:sp>
      <p:sp>
        <p:nvSpPr>
          <p:cNvPr id="52" name="Shape 49"/>
          <p:cNvSpPr/>
          <p:nvPr/>
        </p:nvSpPr>
        <p:spPr>
          <a:xfrm>
            <a:off x="9715500" y="7334402"/>
            <a:ext cx="1257300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715500" y="7334402"/>
            <a:ext cx="12573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규제 선제 대응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1046866" y="7334402"/>
            <a:ext cx="1343254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046866" y="7334402"/>
            <a:ext cx="13432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그린워싱 리스크 차단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2460529" y="7334402"/>
            <a:ext cx="1276502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2460529" y="7334402"/>
            <a:ext cx="12765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평가 등급 방어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3810183" y="7334402"/>
            <a:ext cx="1228954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3810183" y="7334402"/>
            <a:ext cx="12289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 갈등 예방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5112289" y="7334402"/>
            <a:ext cx="1114654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5112289" y="7334402"/>
            <a:ext cx="11146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 의무화 대비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9715500" y="7744054"/>
            <a:ext cx="1114654" cy="333756"/>
          </a:xfrm>
          <a:prstGeom prst="roundRect">
            <a:avLst>
              <a:gd name="adj" fmla="val 273973"/>
            </a:avLst>
          </a:prstGeom>
          <a:solidFill>
            <a:srgbClr val="E6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715500" y="7744054"/>
            <a:ext cx="11146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76200" rIns="139700" bIns="7620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신뢰 확보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1333195" y="8865108"/>
            <a:ext cx="8897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LINE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1333195" y="9083650"/>
            <a:ext cx="111831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하나의 멤버십 가입비로 — 복지 예산 · ESG 보고 · 브랜드 자산 · 규제 대응을 동시에 해결합니다. </a:t>
            </a:r>
            <a:endParaRPr lang="en-US" sz="1800" dirty="0"/>
          </a:p>
        </p:txBody>
      </p:sp>
      <p:sp>
        <p:nvSpPr>
          <p:cNvPr id="66" name="Text 63"/>
          <p:cNvSpPr txBox="1"/>
          <p:nvPr/>
        </p:nvSpPr>
        <p:spPr>
          <a:xfrm>
            <a:off x="15230246" y="8810244"/>
            <a:ext cx="1729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kern="0" spc="-144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4-in-1</a:t>
            </a:r>
            <a:endParaRPr lang="en-US" sz="3600" dirty="0"/>
          </a:p>
        </p:txBody>
      </p:sp>
      <p:sp>
        <p:nvSpPr>
          <p:cNvPr id="67" name="Text 64"/>
          <p:cNvSpPr txBox="1"/>
          <p:nvPr/>
        </p:nvSpPr>
        <p:spPr>
          <a:xfrm>
            <a:off x="15463418" y="9305849"/>
            <a:ext cx="14959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8" dirty="0">
                <a:solidFill>
                  <a:srgbClr val="0A2540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CORPORATE ROI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10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e9a9261ad508b6af2b36c87bacf18b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b664d6b5dfbd2920ec09adeb278d32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2" descr="gen-dedup-7b13f47362f2bebb8b8be11c761d0b5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Image 3" descr="gen-dedup-704129f0ca36c8745d7788242aa1b9c7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52805" y="69530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6476695" y="69530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C2D7">
                <a:alpha val="30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2001500" y="6953098"/>
            <a:ext cx="5333695" cy="1904695"/>
          </a:xfrm>
          <a:prstGeom prst="roundRect">
            <a:avLst>
              <a:gd name="adj" fmla="val 1920"/>
            </a:avLst>
          </a:prstGeom>
          <a:solidFill>
            <a:srgbClr val="00C2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0" y="9334195"/>
            <a:ext cx="18288000" cy="952805"/>
          </a:xfrm>
          <a:prstGeom prst="rect">
            <a:avLst/>
          </a:prstGeom>
          <a:solidFill>
            <a:srgbClr val="04101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4" descr="gen-dedup-9dc12ca349f9c0c80ce6fd6d7fa8612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666598"/>
            <a:ext cx="666598" cy="66659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287500" y="6665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8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23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952805" y="2286000"/>
            <a:ext cx="1238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952805" y="2714854"/>
            <a:ext cx="16193110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24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바다를</a:t>
            </a:r>
            <a:endParaRPr lang="en-US" sz="9600" dirty="0"/>
          </a:p>
          <a:p>
            <a:pPr marL="0" indent="0" algn="l">
              <a:buNone/>
            </a:pPr>
            <a:r>
              <a:rPr lang="en-US" sz="9600" b="1" kern="0" spc="-240" dirty="0">
                <a:solidFill>
                  <a:srgbClr val="00C2D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푸르게.</a:t>
            </a:r>
            <a:endParaRPr lang="en-US" sz="9600" dirty="0"/>
          </a:p>
        </p:txBody>
      </p:sp>
      <p:sp>
        <p:nvSpPr>
          <p:cNvPr id="15" name="Text 8"/>
          <p:cNvSpPr txBox="1"/>
          <p:nvPr/>
        </p:nvSpPr>
        <p:spPr>
          <a:xfrm>
            <a:off x="952805" y="5810098"/>
            <a:ext cx="14287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MOBA 첫 정기 활동까지 — </a:t>
            </a:r>
            <a:r>
              <a:rPr lang="en-US" sz="2200" b="1" kern="0" spc="-12" dirty="0">
                <a:solidFill>
                  <a:srgbClr val="00C2D7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60분 킥오프 미팅</a:t>
            </a:r>
            <a:r>
              <a:rPr lang="en-US" sz="2200" kern="0" spc="-12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시작합니다. </a:t>
            </a:r>
            <a:endParaRPr lang="en-US" sz="2200" dirty="0"/>
          </a:p>
        </p:txBody>
      </p:sp>
      <p:sp>
        <p:nvSpPr>
          <p:cNvPr id="16" name="Text 9"/>
          <p:cNvSpPr txBox="1"/>
          <p:nvPr/>
        </p:nvSpPr>
        <p:spPr>
          <a:xfrm>
            <a:off x="1238098" y="7239305"/>
            <a:ext cx="4763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100" dirty="0"/>
          </a:p>
        </p:txBody>
      </p:sp>
      <p:sp>
        <p:nvSpPr>
          <p:cNvPr id="17" name="Text 10"/>
          <p:cNvSpPr txBox="1"/>
          <p:nvPr/>
        </p:nvSpPr>
        <p:spPr>
          <a:xfrm>
            <a:off x="1238098" y="7772400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킥오프 미팅 (60분)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1238098" y="8182051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진단 · 멤버십 설계 · 일정 확인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6762902" y="7239305"/>
            <a:ext cx="4763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6762902" y="7772400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제안서 + 계약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6762902" y="8182051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특성에 맞춘 운영안 · 계약 체결 · 시범기업 협의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2287707" y="7239305"/>
            <a:ext cx="47631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2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12287707" y="7772400"/>
            <a:ext cx="4763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A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정기 활동 (M2)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2287707" y="8182051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2" dirty="0">
                <a:solidFill>
                  <a:srgbClr val="0A2540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킥오프부터 약 8주 — 임직원이 바다에 들어갑니다.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52805" y="9620402"/>
            <a:ext cx="7620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952805" y="9829800"/>
            <a:ext cx="7620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MOBA · Make Ocean Blue Again — 시범 기업 2곳 선착순 모집 중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477195" y="9620402"/>
            <a:ext cx="6858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44" dirty="0">
                <a:solidFill>
                  <a:srgbClr val="00C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477195" y="9829800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-12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PADI AWARE Foundation · UNEP 등 국제기구 협력 · Dive Against Debris®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4324</Words>
  <Application>Microsoft Macintosh PowerPoint</Application>
  <PresentationFormat>사용자 지정</PresentationFormat>
  <Paragraphs>788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맑은 고딕</vt:lpstr>
      <vt:lpstr>Inter</vt:lpstr>
      <vt:lpstr>Pretendard</vt:lpstr>
      <vt:lpstr>var(--font-num)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Microsoft Office User</cp:lastModifiedBy>
  <cp:revision>3</cp:revision>
  <dcterms:created xsi:type="dcterms:W3CDTF">2026-06-05T14:43:43Z</dcterms:created>
  <dcterms:modified xsi:type="dcterms:W3CDTF">2026-06-05T14:47:06Z</dcterms:modified>
</cp:coreProperties>
</file>